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1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8A8B2316-E1A8-167A-EEC1-9557B5A5302A}">
          <p14:sldIdLst>
            <p14:sldId id="256"/>
            <p14:sldId id="257"/>
            <p14:sldId id="258"/>
          </p14:sldIdLst>
        </p14:section>
        <p14:section name="O que é aprendizado de máquina" id="{5C218758-09B3-C7A9-C665-5E4CDFF7917A}">
          <p14:sldIdLst>
            <p14:sldId id="259"/>
            <p14:sldId id="260"/>
            <p14:sldId id="261"/>
            <p14:sldId id="262"/>
            <p14:sldId id="263"/>
          </p14:sldIdLst>
        </p14:section>
        <p14:section name="Tipos de aprendizado" id="{1C20C8DD-FA60-FD03-6600-405D45E00016}">
          <p14:sldIdLst>
            <p14:sldId id="264"/>
            <p14:sldId id="265"/>
          </p14:sldIdLst>
        </p14:section>
        <p14:section name="Os ingredientes" id="{4331FB05-A7A7-DD17-FF0F-A983861D5A4A}">
          <p14:sldIdLst>
            <p14:sldId id="266"/>
            <p14:sldId id="267"/>
            <p14:sldId id="268"/>
          </p14:sldIdLst>
        </p14:section>
        <p14:section name="Generalização" id="{744A4582-F26C-AA4C-0DE2-195CAA3E7759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Métricas e pré-processamento" id="{ABE9D86F-F3E0-C36F-4862-33A77C27EA99}">
          <p14:sldIdLst>
            <p14:sldId id="278"/>
            <p14:sldId id="279"/>
            <p14:sldId id="280"/>
          </p14:sldIdLst>
        </p14:section>
        <p14:section name="Fluxo de trabalho" id="{5D5A15DA-0ED6-9278-E8C2-A057662215A1}">
          <p14:sldIdLst>
            <p14:sldId id="281"/>
            <p14:sldId id="282"/>
          </p14:sldIdLst>
        </p14:section>
        <p14:section name="Fechamento" id="{0874FB43-354C-E623-DF08-BC6D15F3E87D}">
          <p14:sldIdLst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216" y="1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333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B2333"/>
                </a:solidFill>
                <a:latin typeface="+mn-lt"/>
              </a:rPr>
              <a:t>Demonstração: EQM de validação cruzada (m²)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EQM de validação cruzada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798-A749-BC09-672789483F83}"/>
              </c:ext>
            </c:extLst>
          </c:dPt>
          <c:dPt>
            <c:idx val="1"/>
            <c:invertIfNegative val="0"/>
            <c:bubble3D val="0"/>
            <c:spPr>
              <a:solidFill>
                <a:srgbClr val="EB683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798-A749-BC09-672789483F8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9798-A749-BC09-672789483F83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9798-A749-BC09-672789483F83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9798-A749-BC09-672789483F83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9798-A749-BC09-672789483F83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9798-A749-BC09-672789483F83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9798-A749-BC09-672789483F83}"/>
              </c:ext>
            </c:extLst>
          </c:dPt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0.252</c:v>
                </c:pt>
                <c:pt idx="1">
                  <c:v>3.4000000000000002E-2</c:v>
                </c:pt>
                <c:pt idx="2">
                  <c:v>3.5999999999999997E-2</c:v>
                </c:pt>
                <c:pt idx="3">
                  <c:v>9.9000000000000005E-2</c:v>
                </c:pt>
                <c:pt idx="4">
                  <c:v>0.151</c:v>
                </c:pt>
                <c:pt idx="5">
                  <c:v>0.28299999999999997</c:v>
                </c:pt>
                <c:pt idx="6">
                  <c:v>0.72399999999999998</c:v>
                </c:pt>
                <c:pt idx="7">
                  <c:v>13.103999999999999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9798-A749-BC09-672789483F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6B7A90"/>
                    </a:solidFill>
                    <a:latin typeface="+mn-lt"/>
                  </a:defRPr>
                </a:pPr>
                <a:r>
                  <a:rPr lang="en-US" sz="1300" b="0" i="0" u="none" strike="noStrike">
                    <a:solidFill>
                      <a:srgbClr val="6B7A90"/>
                    </a:solidFill>
                    <a:latin typeface="+mn-lt"/>
                  </a:rPr>
                  <a:t>grau do polinômio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7A90"/>
                </a:solidFill>
                <a:latin typeface="+mn-lt"/>
              </a:defRPr>
            </a:pPr>
            <a:endParaRPr lang="en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logBase val="10"/>
          <c:orientation val="minMax"/>
          <c:max val="100"/>
          <c:min val="0.01"/>
        </c:scaling>
        <c:delete val="0"/>
        <c:axPos val="l"/>
        <c:majorGridlines>
          <c:spPr>
            <a:ln w="9525" cap="flat">
              <a:solidFill>
                <a:srgbClr val="E3E6EB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0"/>
                </a:solidFill>
                <a:latin typeface="+mn-lt"/>
              </a:defRPr>
            </a:pPr>
            <a:endParaRPr lang="en-B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3182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1"/>
                </a:solidFill>
              </a:rPr>
              <a:t>FÍSICA COMPUTACIONAL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1920240"/>
            <a:ext cx="100584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731520" y="3840480"/>
            <a:ext cx="10058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b="1" kern="0" spc="200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Introdução ao Aprendizado de Máquina · Aula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b="1" kern="0" spc="200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Introdução ao Aprendizado de Máquina · Aula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Q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2011680"/>
            <a:ext cx="78638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b="1" kern="0" spc="300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2468880"/>
            <a:ext cx="78638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731520" y="4343400"/>
            <a:ext cx="78638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.png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192024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Introdução ao Aprendizado de Máquina</a:t>
            </a:r>
            <a:endParaRPr lang="en-US" sz="48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731520" y="38404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chemeClr val="bg2"/>
                </a:solidFill>
              </a:rPr>
              <a:t>Aula 1 — Introdução geral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O CURSO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Do ajuste de curvas aos modelos generativos</a:t>
            </a:r>
            <a:endParaRPr lang="en-US" sz="3400" dirty="0"/>
          </a:p>
        </p:txBody>
      </p:sp>
      <p:sp>
        <p:nvSpPr>
          <p:cNvPr id="4" name="cartao-1"/>
          <p:cNvSpPr/>
          <p:nvPr/>
        </p:nvSpPr>
        <p:spPr>
          <a:xfrm>
            <a:off x="548640" y="1554480"/>
            <a:ext cx="2560320" cy="41148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o-2"/>
          <p:cNvSpPr txBox="1"/>
          <p:nvPr/>
        </p:nvSpPr>
        <p:spPr>
          <a:xfrm>
            <a:off x="777240" y="1783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AULAS 1 A 6</a:t>
            </a:r>
            <a:endParaRPr lang="en-US" sz="1200" dirty="0"/>
          </a:p>
        </p:txBody>
      </p:sp>
      <p:sp>
        <p:nvSpPr>
          <p:cNvPr id="6" name="texto-3"/>
          <p:cNvSpPr txBox="1"/>
          <p:nvPr/>
        </p:nvSpPr>
        <p:spPr>
          <a:xfrm>
            <a:off x="777240" y="21031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Métodos clássicos</a:t>
            </a:r>
            <a:endParaRPr lang="en-US" sz="1900" dirty="0"/>
          </a:p>
        </p:txBody>
      </p:sp>
      <p:sp>
        <p:nvSpPr>
          <p:cNvPr id="7" name="texto-4"/>
          <p:cNvSpPr txBox="1"/>
          <p:nvPr/>
        </p:nvSpPr>
        <p:spPr>
          <a:xfrm>
            <a:off x="777240" y="292608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Introdução geral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Pandas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Regressão linear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K-means e PCA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Árvore de decisão e random forest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SVM</a:t>
            </a:r>
            <a:endParaRPr lang="en-US" sz="1400" dirty="0"/>
          </a:p>
        </p:txBody>
      </p:sp>
      <p:sp>
        <p:nvSpPr>
          <p:cNvPr id="8" name="etiqueta-5"/>
          <p:cNvSpPr/>
          <p:nvPr/>
        </p:nvSpPr>
        <p:spPr>
          <a:xfrm>
            <a:off x="777240" y="5120640"/>
            <a:ext cx="2103120" cy="347472"/>
          </a:xfrm>
          <a:prstGeom prst="roundRect">
            <a:avLst>
              <a:gd name="adj" fmla="val 4736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o-6"/>
          <p:cNvSpPr txBox="1"/>
          <p:nvPr/>
        </p:nvSpPr>
        <p:spPr>
          <a:xfrm>
            <a:off x="777240" y="51206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scikit-learn</a:t>
            </a:r>
            <a:endParaRPr lang="en-US" sz="1300" dirty="0"/>
          </a:p>
        </p:txBody>
      </p:sp>
      <p:sp>
        <p:nvSpPr>
          <p:cNvPr id="10" name="cartao-7"/>
          <p:cNvSpPr/>
          <p:nvPr/>
        </p:nvSpPr>
        <p:spPr>
          <a:xfrm>
            <a:off x="3383280" y="1554480"/>
            <a:ext cx="2560320" cy="41148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o-8"/>
          <p:cNvSpPr txBox="1"/>
          <p:nvPr/>
        </p:nvSpPr>
        <p:spPr>
          <a:xfrm>
            <a:off x="3611880" y="1783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AULAS 7 A 9</a:t>
            </a:r>
            <a:endParaRPr lang="en-US" sz="1200" dirty="0"/>
          </a:p>
        </p:txBody>
      </p:sp>
      <p:sp>
        <p:nvSpPr>
          <p:cNvPr id="12" name="texto-9"/>
          <p:cNvSpPr txBox="1"/>
          <p:nvPr/>
        </p:nvSpPr>
        <p:spPr>
          <a:xfrm>
            <a:off x="3611880" y="21031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 neurais</a:t>
            </a:r>
            <a:endParaRPr lang="en-US" sz="1900" dirty="0"/>
          </a:p>
        </p:txBody>
      </p:sp>
      <p:sp>
        <p:nvSpPr>
          <p:cNvPr id="13" name="texto-10"/>
          <p:cNvSpPr txBox="1"/>
          <p:nvPr/>
        </p:nvSpPr>
        <p:spPr>
          <a:xfrm>
            <a:off x="3611880" y="292608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Redes neurais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Autoencoder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Redes convolucionais (CNN)</a:t>
            </a:r>
            <a:endParaRPr lang="en-US" sz="1400" dirty="0"/>
          </a:p>
        </p:txBody>
      </p:sp>
      <p:sp>
        <p:nvSpPr>
          <p:cNvPr id="14" name="etiqueta-11"/>
          <p:cNvSpPr/>
          <p:nvPr/>
        </p:nvSpPr>
        <p:spPr>
          <a:xfrm>
            <a:off x="3611880" y="5120640"/>
            <a:ext cx="2103120" cy="347472"/>
          </a:xfrm>
          <a:prstGeom prst="roundRect">
            <a:avLst>
              <a:gd name="adj" fmla="val 4736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o-12"/>
          <p:cNvSpPr txBox="1"/>
          <p:nvPr/>
        </p:nvSpPr>
        <p:spPr>
          <a:xfrm>
            <a:off x="3611880" y="51206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scikit-learn · Keras</a:t>
            </a:r>
            <a:endParaRPr lang="en-US" sz="1300" dirty="0"/>
          </a:p>
        </p:txBody>
      </p:sp>
      <p:sp>
        <p:nvSpPr>
          <p:cNvPr id="16" name="cartao-13"/>
          <p:cNvSpPr/>
          <p:nvPr/>
        </p:nvSpPr>
        <p:spPr>
          <a:xfrm>
            <a:off x="6217920" y="1554480"/>
            <a:ext cx="2560320" cy="41148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o-14"/>
          <p:cNvSpPr txBox="1"/>
          <p:nvPr/>
        </p:nvSpPr>
        <p:spPr>
          <a:xfrm>
            <a:off x="6446520" y="1783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AULAS 10 A 13</a:t>
            </a:r>
            <a:endParaRPr lang="en-US" sz="1200" dirty="0"/>
          </a:p>
        </p:txBody>
      </p:sp>
      <p:sp>
        <p:nvSpPr>
          <p:cNvPr id="18" name="texto-15"/>
          <p:cNvSpPr txBox="1"/>
          <p:nvPr/>
        </p:nvSpPr>
        <p:spPr>
          <a:xfrm>
            <a:off x="6446520" y="21031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generativos</a:t>
            </a:r>
            <a:endParaRPr lang="en-US" sz="1900" dirty="0"/>
          </a:p>
        </p:txBody>
      </p:sp>
      <p:sp>
        <p:nvSpPr>
          <p:cNvPr id="19" name="texto-16"/>
          <p:cNvSpPr txBox="1"/>
          <p:nvPr/>
        </p:nvSpPr>
        <p:spPr>
          <a:xfrm>
            <a:off x="6446520" y="292608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Redes adversárias generativas (GANs)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Modelos de difusão</a:t>
            </a:r>
            <a:endParaRPr lang="en-US" sz="1400" dirty="0"/>
          </a:p>
        </p:txBody>
      </p:sp>
      <p:sp>
        <p:nvSpPr>
          <p:cNvPr id="20" name="etiqueta-17"/>
          <p:cNvSpPr/>
          <p:nvPr/>
        </p:nvSpPr>
        <p:spPr>
          <a:xfrm>
            <a:off x="6446520" y="5120640"/>
            <a:ext cx="2103120" cy="347472"/>
          </a:xfrm>
          <a:prstGeom prst="roundRect">
            <a:avLst>
              <a:gd name="adj" fmla="val 4736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o-18"/>
          <p:cNvSpPr txBox="1"/>
          <p:nvPr/>
        </p:nvSpPr>
        <p:spPr>
          <a:xfrm>
            <a:off x="6446520" y="51206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Keras</a:t>
            </a:r>
            <a:endParaRPr lang="en-US" sz="1300" dirty="0"/>
          </a:p>
        </p:txBody>
      </p:sp>
      <p:sp>
        <p:nvSpPr>
          <p:cNvPr id="22" name="cartao-19"/>
          <p:cNvSpPr/>
          <p:nvPr/>
        </p:nvSpPr>
        <p:spPr>
          <a:xfrm>
            <a:off x="9052560" y="1554480"/>
            <a:ext cx="2560320" cy="411480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o-20"/>
          <p:cNvSpPr txBox="1"/>
          <p:nvPr/>
        </p:nvSpPr>
        <p:spPr>
          <a:xfrm>
            <a:off x="9281160" y="1783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AULA 14</a:t>
            </a:r>
            <a:endParaRPr lang="en-US" sz="1200" dirty="0"/>
          </a:p>
        </p:txBody>
      </p:sp>
      <p:sp>
        <p:nvSpPr>
          <p:cNvPr id="24" name="texto-21"/>
          <p:cNvSpPr txBox="1"/>
          <p:nvPr/>
        </p:nvSpPr>
        <p:spPr>
          <a:xfrm>
            <a:off x="9281160" y="21031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final</a:t>
            </a:r>
            <a:endParaRPr lang="en-US" sz="1900" dirty="0"/>
          </a:p>
        </p:txBody>
      </p:sp>
      <p:sp>
        <p:nvSpPr>
          <p:cNvPr id="25" name="texto-22"/>
          <p:cNvSpPr txBox="1"/>
          <p:nvPr/>
        </p:nvSpPr>
        <p:spPr>
          <a:xfrm>
            <a:off x="9281160" y="292608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Um problema completo, dos dados à avaliação do modelo</a:t>
            </a:r>
            <a:endParaRPr lang="en-US" sz="1400" dirty="0"/>
          </a:p>
        </p:txBody>
      </p:sp>
      <p:sp>
        <p:nvSpPr>
          <p:cNvPr id="26" name="texto-23"/>
          <p:cNvSpPr txBox="1"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Cada aula: </a:t>
            </a:r>
            <a:r>
              <a:rPr lang="en-US" sz="1600" dirty="0">
                <a:solidFill>
                  <a:schemeClr val="tx1"/>
                </a:solidFill>
              </a:rPr>
              <a:t>2 h de teoria + 2 h de prática em sala      </a:t>
            </a:r>
            <a:r>
              <a:rPr lang="en-US" sz="1600" b="1" dirty="0">
                <a:solidFill>
                  <a:schemeClr val="tx1"/>
                </a:solidFill>
              </a:rPr>
              <a:t>Avaliação: </a:t>
            </a:r>
            <a:r>
              <a:rPr lang="en-US" sz="1600" dirty="0">
                <a:solidFill>
                  <a:schemeClr val="tx1"/>
                </a:solidFill>
              </a:rPr>
              <a:t>trabalhos práticos e projeto final</a:t>
            </a:r>
            <a:endParaRPr lang="en-US" sz="16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2011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chemeClr val="accent1"/>
                </a:solidFill>
              </a:rPr>
              <a:t>PARA COMEÇAR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24688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Onde você já viu aprendizado de máquina?</a:t>
            </a:r>
            <a:endParaRPr lang="en-US" sz="44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731520" y="43434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chemeClr val="bg2"/>
                </a:solidFill>
              </a:rPr>
              <a:t>No dia a dia ou na pesquisa</a:t>
            </a:r>
            <a:endParaRPr lang="en-US" sz="2200" dirty="0"/>
          </a:p>
        </p:txBody>
      </p:sp>
      <p:sp>
        <p:nvSpPr>
          <p:cNvPr id="5" name="circulo-24"/>
          <p:cNvSpPr/>
          <p:nvPr/>
        </p:nvSpPr>
        <p:spPr>
          <a:xfrm>
            <a:off x="9052560" y="2286000"/>
            <a:ext cx="2194560" cy="21945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e-FaMicroscope-2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283464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O QUE É APRENDIZADO DE MÁQUINA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Aprender é melhorar com a experiência</a:t>
            </a:r>
            <a:endParaRPr lang="en-US" sz="3400" dirty="0"/>
          </a:p>
        </p:txBody>
      </p:sp>
      <p:sp>
        <p:nvSpPr>
          <p:cNvPr id="4" name="cartao-26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o-27"/>
          <p:cNvSpPr txBox="1"/>
          <p:nvPr/>
        </p:nvSpPr>
        <p:spPr>
          <a:xfrm>
            <a:off x="822960" y="175564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chemeClr val="tx1"/>
                </a:solidFill>
              </a:rPr>
              <a:t>Um programa aprende com a experiência </a:t>
            </a:r>
            <a:r>
              <a:rPr lang="en-US" sz="1900" b="1" i="1" dirty="0">
                <a:solidFill>
                  <a:schemeClr val="accent1"/>
                </a:solidFill>
              </a:rPr>
              <a:t>E</a:t>
            </a:r>
            <a:r>
              <a:rPr lang="en-US" sz="1900" i="1" dirty="0">
                <a:solidFill>
                  <a:schemeClr val="tx1"/>
                </a:solidFill>
              </a:rPr>
              <a:t>, em relação a uma tarefa </a:t>
            </a:r>
            <a:r>
              <a:rPr lang="en-US" sz="1900" b="1" i="1" dirty="0">
                <a:solidFill>
                  <a:schemeClr val="accent1"/>
                </a:solidFill>
              </a:rPr>
              <a:t>T</a:t>
            </a:r>
            <a:r>
              <a:rPr lang="en-US" sz="1900" i="1" dirty="0">
                <a:solidFill>
                  <a:schemeClr val="tx1"/>
                </a:solidFill>
              </a:rPr>
              <a:t> e a uma medida de desempenho </a:t>
            </a:r>
            <a:r>
              <a:rPr lang="en-US" sz="1900" b="1" i="1" dirty="0">
                <a:solidFill>
                  <a:schemeClr val="accent1"/>
                </a:solidFill>
              </a:rPr>
              <a:t>P</a:t>
            </a:r>
            <a:r>
              <a:rPr lang="en-US" sz="1900" i="1" dirty="0">
                <a:solidFill>
                  <a:schemeClr val="tx1"/>
                </a:solidFill>
              </a:rPr>
              <a:t>, se o seu desempenho em T, medido por P, melhora com E.</a:t>
            </a:r>
            <a:endParaRPr lang="en-US" sz="1900" dirty="0"/>
          </a:p>
        </p:txBody>
      </p:sp>
      <p:sp>
        <p:nvSpPr>
          <p:cNvPr id="6" name="texto-28"/>
          <p:cNvSpPr txBox="1"/>
          <p:nvPr/>
        </p:nvSpPr>
        <p:spPr>
          <a:xfrm>
            <a:off x="9601200" y="175564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chemeClr val="accent4"/>
                </a:solidFill>
              </a:rPr>
              <a:t>T. Mitchell, 1997</a:t>
            </a:r>
            <a:endParaRPr lang="en-US" sz="1300" dirty="0"/>
          </a:p>
        </p:txBody>
      </p:sp>
      <p:sp>
        <p:nvSpPr>
          <p:cNvPr id="7" name="texto-29"/>
          <p:cNvSpPr txBox="1"/>
          <p:nvPr/>
        </p:nvSpPr>
        <p:spPr>
          <a:xfrm>
            <a:off x="548640" y="2926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Exemplo: classificar eventos de um detector de partículas</a:t>
            </a:r>
            <a:endParaRPr lang="en-US" sz="1800" dirty="0"/>
          </a:p>
        </p:txBody>
      </p:sp>
      <p:sp>
        <p:nvSpPr>
          <p:cNvPr id="8" name="cartao-30"/>
          <p:cNvSpPr/>
          <p:nvPr/>
        </p:nvSpPr>
        <p:spPr>
          <a:xfrm>
            <a:off x="548640" y="3474720"/>
            <a:ext cx="3502152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numero-31"/>
          <p:cNvSpPr/>
          <p:nvPr/>
        </p:nvSpPr>
        <p:spPr>
          <a:xfrm>
            <a:off x="822960" y="37490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o-32"/>
          <p:cNvSpPr txBox="1"/>
          <p:nvPr/>
        </p:nvSpPr>
        <p:spPr>
          <a:xfrm>
            <a:off x="822960" y="3749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400" dirty="0"/>
          </a:p>
        </p:txBody>
      </p:sp>
      <p:sp>
        <p:nvSpPr>
          <p:cNvPr id="11" name="texto-33"/>
          <p:cNvSpPr txBox="1"/>
          <p:nvPr/>
        </p:nvSpPr>
        <p:spPr>
          <a:xfrm>
            <a:off x="1737360" y="3749040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Tarefa</a:t>
            </a:r>
            <a:endParaRPr lang="en-US" sz="2000" dirty="0"/>
          </a:p>
        </p:txBody>
      </p:sp>
      <p:sp>
        <p:nvSpPr>
          <p:cNvPr id="12" name="texto-34"/>
          <p:cNvSpPr txBox="1"/>
          <p:nvPr/>
        </p:nvSpPr>
        <p:spPr>
          <a:xfrm>
            <a:off x="822960" y="470916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Classificar cada evento </a:t>
            </a:r>
            <a:r>
              <a:rPr lang="en-US" sz="1700" dirty="0" err="1">
                <a:solidFill>
                  <a:schemeClr val="tx1"/>
                </a:solidFill>
              </a:rPr>
              <a:t>como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dirty="0" err="1">
                <a:solidFill>
                  <a:schemeClr val="tx1"/>
                </a:solidFill>
              </a:rPr>
              <a:t>sinal</a:t>
            </a:r>
            <a:endParaRPr lang="en-US" sz="1700" dirty="0"/>
          </a:p>
        </p:txBody>
      </p:sp>
      <p:sp>
        <p:nvSpPr>
          <p:cNvPr id="13" name="cartao-35"/>
          <p:cNvSpPr/>
          <p:nvPr/>
        </p:nvSpPr>
        <p:spPr>
          <a:xfrm>
            <a:off x="4329684" y="3474720"/>
            <a:ext cx="3502152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numero-36"/>
          <p:cNvSpPr/>
          <p:nvPr/>
        </p:nvSpPr>
        <p:spPr>
          <a:xfrm>
            <a:off x="4604004" y="37490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o-37"/>
          <p:cNvSpPr txBox="1"/>
          <p:nvPr/>
        </p:nvSpPr>
        <p:spPr>
          <a:xfrm>
            <a:off x="4604004" y="3749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400" dirty="0"/>
          </a:p>
        </p:txBody>
      </p:sp>
      <p:sp>
        <p:nvSpPr>
          <p:cNvPr id="16" name="texto-38"/>
          <p:cNvSpPr txBox="1"/>
          <p:nvPr/>
        </p:nvSpPr>
        <p:spPr>
          <a:xfrm>
            <a:off x="5518404" y="3749040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Experiência</a:t>
            </a:r>
            <a:endParaRPr lang="en-US" sz="2000" dirty="0"/>
          </a:p>
        </p:txBody>
      </p:sp>
      <p:sp>
        <p:nvSpPr>
          <p:cNvPr id="17" name="texto-39"/>
          <p:cNvSpPr txBox="1"/>
          <p:nvPr/>
        </p:nvSpPr>
        <p:spPr>
          <a:xfrm>
            <a:off x="4604004" y="470916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Eventos simulados cujos rótulos são conhecidos</a:t>
            </a:r>
            <a:endParaRPr lang="en-US" sz="1700" dirty="0"/>
          </a:p>
        </p:txBody>
      </p:sp>
      <p:sp>
        <p:nvSpPr>
          <p:cNvPr id="18" name="cartao-40"/>
          <p:cNvSpPr/>
          <p:nvPr/>
        </p:nvSpPr>
        <p:spPr>
          <a:xfrm>
            <a:off x="8110728" y="3474720"/>
            <a:ext cx="3502152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numero-41"/>
          <p:cNvSpPr/>
          <p:nvPr/>
        </p:nvSpPr>
        <p:spPr>
          <a:xfrm>
            <a:off x="8385048" y="37490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o-42"/>
          <p:cNvSpPr txBox="1"/>
          <p:nvPr/>
        </p:nvSpPr>
        <p:spPr>
          <a:xfrm>
            <a:off x="8385048" y="3749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400" dirty="0"/>
          </a:p>
        </p:txBody>
      </p:sp>
      <p:sp>
        <p:nvSpPr>
          <p:cNvPr id="21" name="texto-43"/>
          <p:cNvSpPr txBox="1"/>
          <p:nvPr/>
        </p:nvSpPr>
        <p:spPr>
          <a:xfrm>
            <a:off x="9299448" y="3749040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Desempenho</a:t>
            </a:r>
            <a:endParaRPr lang="en-US" sz="2000" dirty="0"/>
          </a:p>
        </p:txBody>
      </p:sp>
      <p:sp>
        <p:nvSpPr>
          <p:cNvPr id="22" name="texto-44"/>
          <p:cNvSpPr txBox="1"/>
          <p:nvPr/>
        </p:nvSpPr>
        <p:spPr>
          <a:xfrm>
            <a:off x="8385048" y="470916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Fração de eventos classificados corretamente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O QUE É APRENDIZADO DE MÁQUINA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Programação tradicional × aprendizado de máquina</a:t>
            </a:r>
            <a:endParaRPr lang="en-US" sz="3400" dirty="0"/>
          </a:p>
        </p:txBody>
      </p:sp>
      <p:sp>
        <p:nvSpPr>
          <p:cNvPr id="4" name="texto-45"/>
          <p:cNvSpPr txBox="1"/>
          <p:nvPr/>
        </p:nvSpPr>
        <p:spPr>
          <a:xfrm>
            <a:off x="548640" y="17373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Programação tradicional</a:t>
            </a:r>
            <a:endParaRPr lang="en-US" sz="1900" dirty="0"/>
          </a:p>
        </p:txBody>
      </p:sp>
      <p:sp>
        <p:nvSpPr>
          <p:cNvPr id="5" name="cartao-46"/>
          <p:cNvSpPr/>
          <p:nvPr/>
        </p:nvSpPr>
        <p:spPr>
          <a:xfrm>
            <a:off x="2926080" y="1737360"/>
            <a:ext cx="24688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o-47"/>
          <p:cNvSpPr txBox="1"/>
          <p:nvPr/>
        </p:nvSpPr>
        <p:spPr>
          <a:xfrm>
            <a:off x="2926080" y="17373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</a:rPr>
              <a:t>Dados + regras</a:t>
            </a:r>
            <a:endParaRPr lang="en-US" sz="1800" dirty="0"/>
          </a:p>
        </p:txBody>
      </p:sp>
      <p:sp>
        <p:nvSpPr>
          <p:cNvPr id="7" name="seta-48"/>
          <p:cNvSpPr/>
          <p:nvPr/>
        </p:nvSpPr>
        <p:spPr>
          <a:xfrm>
            <a:off x="5486400" y="2240280"/>
            <a:ext cx="731520" cy="0"/>
          </a:xfrm>
          <a:prstGeom prst="line">
            <a:avLst/>
          </a:prstGeom>
          <a:noFill/>
          <a:ln w="254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8" name="cartao-49"/>
          <p:cNvSpPr/>
          <p:nvPr/>
        </p:nvSpPr>
        <p:spPr>
          <a:xfrm>
            <a:off x="6309360" y="1737360"/>
            <a:ext cx="219456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o-50"/>
          <p:cNvSpPr txBox="1"/>
          <p:nvPr/>
        </p:nvSpPr>
        <p:spPr>
          <a:xfrm>
            <a:off x="6309360" y="17373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Programa</a:t>
            </a:r>
            <a:endParaRPr lang="en-US" sz="1800" dirty="0"/>
          </a:p>
        </p:txBody>
      </p:sp>
      <p:sp>
        <p:nvSpPr>
          <p:cNvPr id="10" name="seta-51"/>
          <p:cNvSpPr/>
          <p:nvPr/>
        </p:nvSpPr>
        <p:spPr>
          <a:xfrm>
            <a:off x="8595360" y="2240280"/>
            <a:ext cx="731520" cy="0"/>
          </a:xfrm>
          <a:prstGeom prst="line">
            <a:avLst/>
          </a:prstGeom>
          <a:noFill/>
          <a:ln w="254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11" name="cartao-52"/>
          <p:cNvSpPr/>
          <p:nvPr/>
        </p:nvSpPr>
        <p:spPr>
          <a:xfrm>
            <a:off x="9418320" y="1737360"/>
            <a:ext cx="21945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o-53"/>
          <p:cNvSpPr txBox="1"/>
          <p:nvPr/>
        </p:nvSpPr>
        <p:spPr>
          <a:xfrm>
            <a:off x="9418320" y="17373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</a:rPr>
              <a:t>Respostas</a:t>
            </a:r>
            <a:endParaRPr lang="en-US" sz="1800" dirty="0"/>
          </a:p>
        </p:txBody>
      </p:sp>
      <p:sp>
        <p:nvSpPr>
          <p:cNvPr id="13" name="texto-54"/>
          <p:cNvSpPr txBox="1"/>
          <p:nvPr/>
        </p:nvSpPr>
        <p:spPr>
          <a:xfrm>
            <a:off x="548640" y="35661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Aprendizado de máquina</a:t>
            </a:r>
            <a:endParaRPr lang="en-US" sz="1900" dirty="0"/>
          </a:p>
        </p:txBody>
      </p:sp>
      <p:sp>
        <p:nvSpPr>
          <p:cNvPr id="14" name="cartao-55"/>
          <p:cNvSpPr/>
          <p:nvPr/>
        </p:nvSpPr>
        <p:spPr>
          <a:xfrm>
            <a:off x="2926080" y="3566160"/>
            <a:ext cx="24688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o-56"/>
          <p:cNvSpPr txBox="1"/>
          <p:nvPr/>
        </p:nvSpPr>
        <p:spPr>
          <a:xfrm>
            <a:off x="2926080" y="35661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</a:rPr>
              <a:t>Dados + respostas</a:t>
            </a:r>
            <a:endParaRPr lang="en-US" sz="1800" dirty="0"/>
          </a:p>
        </p:txBody>
      </p:sp>
      <p:sp>
        <p:nvSpPr>
          <p:cNvPr id="16" name="seta-57"/>
          <p:cNvSpPr/>
          <p:nvPr/>
        </p:nvSpPr>
        <p:spPr>
          <a:xfrm>
            <a:off x="5486400" y="4069080"/>
            <a:ext cx="731520" cy="0"/>
          </a:xfrm>
          <a:prstGeom prst="line">
            <a:avLst/>
          </a:prstGeom>
          <a:noFill/>
          <a:ln w="254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17" name="cartao-58"/>
          <p:cNvSpPr/>
          <p:nvPr/>
        </p:nvSpPr>
        <p:spPr>
          <a:xfrm>
            <a:off x="6309360" y="3566160"/>
            <a:ext cx="219456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o-59"/>
          <p:cNvSpPr txBox="1"/>
          <p:nvPr/>
        </p:nvSpPr>
        <p:spPr>
          <a:xfrm>
            <a:off x="6309360" y="35661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Aprendizado</a:t>
            </a:r>
            <a:endParaRPr lang="en-US" sz="1800" dirty="0"/>
          </a:p>
        </p:txBody>
      </p:sp>
      <p:sp>
        <p:nvSpPr>
          <p:cNvPr id="19" name="seta-60"/>
          <p:cNvSpPr/>
          <p:nvPr/>
        </p:nvSpPr>
        <p:spPr>
          <a:xfrm>
            <a:off x="8595360" y="4069080"/>
            <a:ext cx="731520" cy="0"/>
          </a:xfrm>
          <a:prstGeom prst="line">
            <a:avLst/>
          </a:prstGeom>
          <a:noFill/>
          <a:ln w="254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20" name="cartao-61"/>
          <p:cNvSpPr/>
          <p:nvPr/>
        </p:nvSpPr>
        <p:spPr>
          <a:xfrm>
            <a:off x="9418320" y="3566160"/>
            <a:ext cx="219456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o-62"/>
          <p:cNvSpPr txBox="1"/>
          <p:nvPr/>
        </p:nvSpPr>
        <p:spPr>
          <a:xfrm>
            <a:off x="9418320" y="35661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Regras (modelo)</a:t>
            </a:r>
            <a:endParaRPr lang="en-US" sz="1800" dirty="0"/>
          </a:p>
        </p:txBody>
      </p:sp>
      <p:sp>
        <p:nvSpPr>
          <p:cNvPr id="22" name="circulo-63"/>
          <p:cNvSpPr/>
          <p:nvPr/>
        </p:nvSpPr>
        <p:spPr>
          <a:xfrm>
            <a:off x="548640" y="51663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icone-FaPenNib-6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5326380"/>
            <a:ext cx="320040" cy="320040"/>
          </a:xfrm>
          <a:prstGeom prst="rect">
            <a:avLst/>
          </a:prstGeom>
        </p:spPr>
      </p:pic>
      <p:sp>
        <p:nvSpPr>
          <p:cNvPr id="24" name="texto-65"/>
          <p:cNvSpPr txBox="1"/>
          <p:nvPr/>
        </p:nvSpPr>
        <p:spPr>
          <a:xfrm>
            <a:off x="1417320" y="5074920"/>
            <a:ext cx="10195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Exemplo: reconhecer dígitos manuscritos. </a:t>
            </a:r>
            <a:r>
              <a:rPr lang="en-US" sz="1700" dirty="0">
                <a:solidFill>
                  <a:schemeClr val="tx1"/>
                </a:solidFill>
              </a:rPr>
              <a:t>É difícil escrever regras que separem um “1” de um “7” escritos por pessoas diferentes, mas é fácil reunir milhares de exemplos rotulados. O modelo aprendido é então aplicado a dados novos.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O QUE É APRENDIZADO DE MÁQUINA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Modelagem física × aprendizado de máquina</a:t>
            </a:r>
            <a:endParaRPr lang="en-US" sz="3400" dirty="0"/>
          </a:p>
        </p:txBody>
      </p:sp>
      <p:graphicFrame>
        <p:nvGraphicFramePr>
          <p:cNvPr id="7" name="tabela-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7315200" cy="29718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Modelagem física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Aprendizado de máquina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Forma do modelo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Teoria, primeiros princípios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Família genérica e flexível de funções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Parâmetros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Poucos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 dezenas a bilhões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Significado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Grandezas físicas: g, massa, constante de mola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Em geral, sem interpretação direta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Sucesso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Explicar e prever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Prever bem dados novos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cartao-67"/>
          <p:cNvSpPr/>
          <p:nvPr/>
        </p:nvSpPr>
        <p:spPr>
          <a:xfrm>
            <a:off x="8138160" y="1600200"/>
            <a:ext cx="3502152" cy="2971800"/>
          </a:xfrm>
          <a:prstGeom prst="roundRect">
            <a:avLst>
              <a:gd name="adj" fmla="val 246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o-68"/>
          <p:cNvSpPr txBox="1"/>
          <p:nvPr/>
        </p:nvSpPr>
        <p:spPr>
          <a:xfrm>
            <a:off x="8412480" y="18105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usar AM</a:t>
            </a:r>
            <a:endParaRPr lang="en-US" sz="2000" dirty="0"/>
          </a:p>
        </p:txBody>
      </p:sp>
      <p:sp>
        <p:nvSpPr>
          <p:cNvPr id="4" name="texto-69"/>
          <p:cNvSpPr txBox="1"/>
          <p:nvPr/>
        </p:nvSpPr>
        <p:spPr>
          <a:xfrm>
            <a:off x="8412480" y="237744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Não há uma teoria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A teoria existe, mas é cara demais de resolver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Dados de dimensão muito alta: imagens, sinais, spins</a:t>
            </a:r>
            <a:endParaRPr lang="en-US" sz="1600" dirty="0"/>
          </a:p>
        </p:txBody>
      </p:sp>
      <p:sp>
        <p:nvSpPr>
          <p:cNvPr id="8" name="cartao-70"/>
          <p:cNvSpPr/>
          <p:nvPr/>
        </p:nvSpPr>
        <p:spPr>
          <a:xfrm>
            <a:off x="548640" y="4892040"/>
            <a:ext cx="11091672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circulo-71"/>
          <p:cNvSpPr/>
          <p:nvPr/>
        </p:nvSpPr>
        <p:spPr>
          <a:xfrm>
            <a:off x="822960" y="5093208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e-FaChartLine-7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5253228"/>
            <a:ext cx="320040" cy="320040"/>
          </a:xfrm>
          <a:prstGeom prst="rect">
            <a:avLst/>
          </a:prstGeom>
        </p:spPr>
      </p:pic>
      <p:sp>
        <p:nvSpPr>
          <p:cNvPr id="11" name="texto-73"/>
          <p:cNvSpPr txBox="1"/>
          <p:nvPr/>
        </p:nvSpPr>
        <p:spPr>
          <a:xfrm>
            <a:off x="1691640" y="49834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Aprender </a:t>
            </a:r>
            <a:r>
              <a:rPr lang="en-US" sz="1800" dirty="0">
                <a:solidFill>
                  <a:schemeClr val="tx1"/>
                </a:solidFill>
              </a:rPr>
              <a:t>= ajustar os parâmetros de uma função a partir de exemplos. Você já faz isso quando ajusta uma parábola para medir g por mínimos quadrados.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O QUE É APRENDIZADO DE MÁQUINA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Uma breve história</a:t>
            </a:r>
            <a:endParaRPr lang="en-US" sz="3400" dirty="0"/>
          </a:p>
        </p:txBody>
      </p:sp>
      <p:sp>
        <p:nvSpPr>
          <p:cNvPr id="4" name="linha-tempo-74"/>
          <p:cNvSpPr/>
          <p:nvPr/>
        </p:nvSpPr>
        <p:spPr>
          <a:xfrm>
            <a:off x="548640" y="3977640"/>
            <a:ext cx="11091672" cy="0"/>
          </a:xfrm>
          <a:prstGeom prst="line">
            <a:avLst/>
          </a:prstGeom>
          <a:noFill/>
          <a:ln w="25400">
            <a:solidFill>
              <a:srgbClr val="6B7A90"/>
            </a:solidFill>
            <a:prstDash val="solid"/>
          </a:ln>
        </p:spPr>
      </p:sp>
      <p:sp>
        <p:nvSpPr>
          <p:cNvPr id="5" name="marco-75"/>
          <p:cNvSpPr/>
          <p:nvPr/>
        </p:nvSpPr>
        <p:spPr>
          <a:xfrm>
            <a:off x="1618488" y="3858768"/>
            <a:ext cx="237744" cy="237744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6" name="texto-76"/>
          <p:cNvSpPr txBox="1"/>
          <p:nvPr/>
        </p:nvSpPr>
        <p:spPr>
          <a:xfrm>
            <a:off x="640080" y="34107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1958</a:t>
            </a:r>
            <a:endParaRPr lang="en-US" sz="1800" dirty="0"/>
          </a:p>
        </p:txBody>
      </p:sp>
      <p:sp>
        <p:nvSpPr>
          <p:cNvPr id="7" name="etiqueta-77"/>
          <p:cNvSpPr/>
          <p:nvPr/>
        </p:nvSpPr>
        <p:spPr>
          <a:xfrm>
            <a:off x="1097280" y="3044952"/>
            <a:ext cx="1280160" cy="292608"/>
          </a:xfrm>
          <a:prstGeom prst="roundRect">
            <a:avLst>
              <a:gd name="adj" fmla="val 56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o-78"/>
          <p:cNvSpPr txBox="1"/>
          <p:nvPr/>
        </p:nvSpPr>
        <p:spPr>
          <a:xfrm>
            <a:off x="1097280" y="30449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Aula 7</a:t>
            </a:r>
            <a:endParaRPr lang="en-US" sz="1200" dirty="0"/>
          </a:p>
        </p:txBody>
      </p:sp>
      <p:sp>
        <p:nvSpPr>
          <p:cNvPr id="9" name="texto-79"/>
          <p:cNvSpPr txBox="1"/>
          <p:nvPr/>
        </p:nvSpPr>
        <p:spPr>
          <a:xfrm>
            <a:off x="548640" y="1993392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Perceptron: primeiro neurônio artificial treinável</a:t>
            </a:r>
            <a:endParaRPr lang="en-US" sz="1500" dirty="0"/>
          </a:p>
        </p:txBody>
      </p:sp>
      <p:sp>
        <p:nvSpPr>
          <p:cNvPr id="10" name="marco-80"/>
          <p:cNvSpPr/>
          <p:nvPr/>
        </p:nvSpPr>
        <p:spPr>
          <a:xfrm>
            <a:off x="2863378" y="3858768"/>
            <a:ext cx="237744" cy="237744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1" name="texto-81"/>
          <p:cNvSpPr txBox="1"/>
          <p:nvPr/>
        </p:nvSpPr>
        <p:spPr>
          <a:xfrm>
            <a:off x="1884970" y="4178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1986</a:t>
            </a:r>
            <a:endParaRPr lang="en-US" sz="1800" dirty="0"/>
          </a:p>
        </p:txBody>
      </p:sp>
      <p:sp>
        <p:nvSpPr>
          <p:cNvPr id="12" name="etiqueta-82"/>
          <p:cNvSpPr/>
          <p:nvPr/>
        </p:nvSpPr>
        <p:spPr>
          <a:xfrm>
            <a:off x="2342170" y="4617720"/>
            <a:ext cx="1280160" cy="292608"/>
          </a:xfrm>
          <a:prstGeom prst="roundRect">
            <a:avLst>
              <a:gd name="adj" fmla="val 56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o-83"/>
          <p:cNvSpPr txBox="1"/>
          <p:nvPr/>
        </p:nvSpPr>
        <p:spPr>
          <a:xfrm>
            <a:off x="2342170" y="4617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Aula 7</a:t>
            </a:r>
            <a:endParaRPr lang="en-US" sz="1200" dirty="0"/>
          </a:p>
        </p:txBody>
      </p:sp>
      <p:sp>
        <p:nvSpPr>
          <p:cNvPr id="14" name="texto-84"/>
          <p:cNvSpPr txBox="1"/>
          <p:nvPr/>
        </p:nvSpPr>
        <p:spPr>
          <a:xfrm>
            <a:off x="1793530" y="5001768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Retropropagação populariza o treino de redes neurais</a:t>
            </a:r>
            <a:endParaRPr lang="en-US" sz="1500" dirty="0"/>
          </a:p>
        </p:txBody>
      </p:sp>
      <p:sp>
        <p:nvSpPr>
          <p:cNvPr id="15" name="marco-85"/>
          <p:cNvSpPr/>
          <p:nvPr/>
        </p:nvSpPr>
        <p:spPr>
          <a:xfrm>
            <a:off x="4108269" y="3858768"/>
            <a:ext cx="237744" cy="237744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6" name="texto-86"/>
          <p:cNvSpPr txBox="1"/>
          <p:nvPr/>
        </p:nvSpPr>
        <p:spPr>
          <a:xfrm>
            <a:off x="3129861" y="34107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1995</a:t>
            </a:r>
            <a:endParaRPr lang="en-US" sz="1800" dirty="0"/>
          </a:p>
        </p:txBody>
      </p:sp>
      <p:sp>
        <p:nvSpPr>
          <p:cNvPr id="17" name="etiqueta-87"/>
          <p:cNvSpPr/>
          <p:nvPr/>
        </p:nvSpPr>
        <p:spPr>
          <a:xfrm>
            <a:off x="3587061" y="3044952"/>
            <a:ext cx="1280160" cy="292608"/>
          </a:xfrm>
          <a:prstGeom prst="roundRect">
            <a:avLst>
              <a:gd name="adj" fmla="val 56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o-88"/>
          <p:cNvSpPr txBox="1"/>
          <p:nvPr/>
        </p:nvSpPr>
        <p:spPr>
          <a:xfrm>
            <a:off x="3587061" y="30449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Aula 6</a:t>
            </a:r>
            <a:endParaRPr lang="en-US" sz="1200" dirty="0"/>
          </a:p>
        </p:txBody>
      </p:sp>
      <p:sp>
        <p:nvSpPr>
          <p:cNvPr id="19" name="texto-89"/>
          <p:cNvSpPr txBox="1"/>
          <p:nvPr/>
        </p:nvSpPr>
        <p:spPr>
          <a:xfrm>
            <a:off x="3038421" y="1993392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Máquinas de vetores de suporte (SVM)</a:t>
            </a:r>
            <a:endParaRPr lang="en-US" sz="1500" dirty="0"/>
          </a:p>
        </p:txBody>
      </p:sp>
      <p:sp>
        <p:nvSpPr>
          <p:cNvPr id="20" name="marco-90"/>
          <p:cNvSpPr/>
          <p:nvPr/>
        </p:nvSpPr>
        <p:spPr>
          <a:xfrm>
            <a:off x="5353159" y="3858768"/>
            <a:ext cx="237744" cy="237744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1" name="texto-91"/>
          <p:cNvSpPr txBox="1"/>
          <p:nvPr/>
        </p:nvSpPr>
        <p:spPr>
          <a:xfrm>
            <a:off x="4374751" y="4178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2001</a:t>
            </a:r>
            <a:endParaRPr lang="en-US" sz="1800" dirty="0"/>
          </a:p>
        </p:txBody>
      </p:sp>
      <p:sp>
        <p:nvSpPr>
          <p:cNvPr id="22" name="etiqueta-92"/>
          <p:cNvSpPr/>
          <p:nvPr/>
        </p:nvSpPr>
        <p:spPr>
          <a:xfrm>
            <a:off x="4831951" y="4617720"/>
            <a:ext cx="1280160" cy="292608"/>
          </a:xfrm>
          <a:prstGeom prst="roundRect">
            <a:avLst>
              <a:gd name="adj" fmla="val 56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o-93"/>
          <p:cNvSpPr txBox="1"/>
          <p:nvPr/>
        </p:nvSpPr>
        <p:spPr>
          <a:xfrm>
            <a:off x="4831951" y="4617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Aula 5</a:t>
            </a:r>
            <a:endParaRPr lang="en-US" sz="1200" dirty="0"/>
          </a:p>
        </p:txBody>
      </p:sp>
      <p:sp>
        <p:nvSpPr>
          <p:cNvPr id="24" name="texto-94"/>
          <p:cNvSpPr txBox="1"/>
          <p:nvPr/>
        </p:nvSpPr>
        <p:spPr>
          <a:xfrm>
            <a:off x="4283311" y="5001768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Random forests</a:t>
            </a:r>
            <a:endParaRPr lang="en-US" sz="1500" dirty="0"/>
          </a:p>
        </p:txBody>
      </p:sp>
      <p:sp>
        <p:nvSpPr>
          <p:cNvPr id="25" name="marco-95"/>
          <p:cNvSpPr/>
          <p:nvPr/>
        </p:nvSpPr>
        <p:spPr>
          <a:xfrm>
            <a:off x="6598049" y="3858768"/>
            <a:ext cx="237744" cy="237744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6" name="texto-96"/>
          <p:cNvSpPr txBox="1"/>
          <p:nvPr/>
        </p:nvSpPr>
        <p:spPr>
          <a:xfrm>
            <a:off x="5619641" y="34107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2012</a:t>
            </a:r>
            <a:endParaRPr lang="en-US" sz="1800" dirty="0"/>
          </a:p>
        </p:txBody>
      </p:sp>
      <p:sp>
        <p:nvSpPr>
          <p:cNvPr id="27" name="etiqueta-97"/>
          <p:cNvSpPr/>
          <p:nvPr/>
        </p:nvSpPr>
        <p:spPr>
          <a:xfrm>
            <a:off x="6076841" y="3044952"/>
            <a:ext cx="1280160" cy="292608"/>
          </a:xfrm>
          <a:prstGeom prst="roundRect">
            <a:avLst>
              <a:gd name="adj" fmla="val 56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o-98"/>
          <p:cNvSpPr txBox="1"/>
          <p:nvPr/>
        </p:nvSpPr>
        <p:spPr>
          <a:xfrm>
            <a:off x="6076841" y="30449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Aula 9</a:t>
            </a:r>
            <a:endParaRPr lang="en-US" sz="1200" dirty="0"/>
          </a:p>
        </p:txBody>
      </p:sp>
      <p:sp>
        <p:nvSpPr>
          <p:cNvPr id="29" name="texto-99"/>
          <p:cNvSpPr txBox="1"/>
          <p:nvPr/>
        </p:nvSpPr>
        <p:spPr>
          <a:xfrm>
            <a:off x="5528201" y="1993392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AlexNet: uma CNN treinada em GPUs vence o ImageNet</a:t>
            </a:r>
            <a:endParaRPr lang="en-US" sz="1500" dirty="0"/>
          </a:p>
        </p:txBody>
      </p:sp>
      <p:sp>
        <p:nvSpPr>
          <p:cNvPr id="30" name="marco-100"/>
          <p:cNvSpPr/>
          <p:nvPr/>
        </p:nvSpPr>
        <p:spPr>
          <a:xfrm>
            <a:off x="7842939" y="3858768"/>
            <a:ext cx="237744" cy="237744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1" name="texto-101"/>
          <p:cNvSpPr txBox="1"/>
          <p:nvPr/>
        </p:nvSpPr>
        <p:spPr>
          <a:xfrm>
            <a:off x="6864531" y="4178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2014</a:t>
            </a:r>
            <a:endParaRPr lang="en-US" sz="1800" dirty="0"/>
          </a:p>
        </p:txBody>
      </p:sp>
      <p:sp>
        <p:nvSpPr>
          <p:cNvPr id="32" name="etiqueta-102"/>
          <p:cNvSpPr/>
          <p:nvPr/>
        </p:nvSpPr>
        <p:spPr>
          <a:xfrm>
            <a:off x="7321731" y="4617720"/>
            <a:ext cx="1280160" cy="292608"/>
          </a:xfrm>
          <a:prstGeom prst="roundRect">
            <a:avLst>
              <a:gd name="adj" fmla="val 56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o-103"/>
          <p:cNvSpPr txBox="1"/>
          <p:nvPr/>
        </p:nvSpPr>
        <p:spPr>
          <a:xfrm>
            <a:off x="7321731" y="4617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Aulas 10–11</a:t>
            </a:r>
            <a:endParaRPr lang="en-US" sz="1200" dirty="0"/>
          </a:p>
        </p:txBody>
      </p:sp>
      <p:sp>
        <p:nvSpPr>
          <p:cNvPr id="34" name="texto-104"/>
          <p:cNvSpPr txBox="1"/>
          <p:nvPr/>
        </p:nvSpPr>
        <p:spPr>
          <a:xfrm>
            <a:off x="6773091" y="5001768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Redes adversárias generativas (GANs)</a:t>
            </a:r>
            <a:endParaRPr lang="en-US" sz="1500" dirty="0"/>
          </a:p>
        </p:txBody>
      </p:sp>
      <p:sp>
        <p:nvSpPr>
          <p:cNvPr id="35" name="marco-105"/>
          <p:cNvSpPr/>
          <p:nvPr/>
        </p:nvSpPr>
        <p:spPr>
          <a:xfrm>
            <a:off x="9087830" y="3858768"/>
            <a:ext cx="237744" cy="237744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6" name="texto-106"/>
          <p:cNvSpPr txBox="1"/>
          <p:nvPr/>
        </p:nvSpPr>
        <p:spPr>
          <a:xfrm>
            <a:off x="8109422" y="34107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2015–20</a:t>
            </a:r>
            <a:endParaRPr lang="en-US" sz="1800" dirty="0"/>
          </a:p>
        </p:txBody>
      </p:sp>
      <p:sp>
        <p:nvSpPr>
          <p:cNvPr id="37" name="etiqueta-107"/>
          <p:cNvSpPr/>
          <p:nvPr/>
        </p:nvSpPr>
        <p:spPr>
          <a:xfrm>
            <a:off x="8566622" y="3044952"/>
            <a:ext cx="1280160" cy="292608"/>
          </a:xfrm>
          <a:prstGeom prst="roundRect">
            <a:avLst>
              <a:gd name="adj" fmla="val 56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texto-108"/>
          <p:cNvSpPr txBox="1"/>
          <p:nvPr/>
        </p:nvSpPr>
        <p:spPr>
          <a:xfrm>
            <a:off x="8566622" y="30449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Aulas 12–13</a:t>
            </a:r>
            <a:endParaRPr lang="en-US" sz="1200" dirty="0"/>
          </a:p>
        </p:txBody>
      </p:sp>
      <p:sp>
        <p:nvSpPr>
          <p:cNvPr id="39" name="texto-109"/>
          <p:cNvSpPr txBox="1"/>
          <p:nvPr/>
        </p:nvSpPr>
        <p:spPr>
          <a:xfrm>
            <a:off x="8017982" y="1993392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Modelos de difusão</a:t>
            </a:r>
            <a:endParaRPr lang="en-US" sz="1500" dirty="0"/>
          </a:p>
        </p:txBody>
      </p:sp>
      <p:sp>
        <p:nvSpPr>
          <p:cNvPr id="40" name="marco-110"/>
          <p:cNvSpPr/>
          <p:nvPr/>
        </p:nvSpPr>
        <p:spPr>
          <a:xfrm>
            <a:off x="10332720" y="3858768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41" name="texto-111"/>
          <p:cNvSpPr txBox="1"/>
          <p:nvPr/>
        </p:nvSpPr>
        <p:spPr>
          <a:xfrm>
            <a:off x="9354312" y="4178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</a:t>
            </a:r>
            <a:endParaRPr lang="en-US" sz="1800" dirty="0"/>
          </a:p>
        </p:txBody>
      </p:sp>
      <p:sp>
        <p:nvSpPr>
          <p:cNvPr id="42" name="texto-112"/>
          <p:cNvSpPr txBox="1"/>
          <p:nvPr/>
        </p:nvSpPr>
        <p:spPr>
          <a:xfrm>
            <a:off x="9262872" y="4636008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Nobel de Física para Hopfield e Hinton</a:t>
            </a:r>
            <a:endParaRPr lang="en-US" sz="15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O QUE É APRENDIZADO DE MÁQUINA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Aprendizado de máquina na física</a:t>
            </a:r>
            <a:endParaRPr lang="en-US" sz="3400" dirty="0"/>
          </a:p>
        </p:txBody>
      </p:sp>
      <p:sp>
        <p:nvSpPr>
          <p:cNvPr id="4" name="cartao-113"/>
          <p:cNvSpPr/>
          <p:nvPr/>
        </p:nvSpPr>
        <p:spPr>
          <a:xfrm>
            <a:off x="548640" y="1600200"/>
            <a:ext cx="251460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circulo-114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cone-FaAtom-11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65960"/>
            <a:ext cx="274320" cy="274320"/>
          </a:xfrm>
          <a:prstGeom prst="rect">
            <a:avLst/>
          </a:prstGeom>
        </p:spPr>
      </p:pic>
      <p:sp>
        <p:nvSpPr>
          <p:cNvPr id="7" name="texto-116"/>
          <p:cNvSpPr txBox="1"/>
          <p:nvPr/>
        </p:nvSpPr>
        <p:spPr>
          <a:xfrm>
            <a:off x="1463040" y="1828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Partículas</a:t>
            </a:r>
            <a:endParaRPr lang="en-US" sz="1600" dirty="0"/>
          </a:p>
        </p:txBody>
      </p:sp>
      <p:sp>
        <p:nvSpPr>
          <p:cNvPr id="8" name="texto-117"/>
          <p:cNvSpPr txBox="1"/>
          <p:nvPr/>
        </p:nvSpPr>
        <p:spPr>
          <a:xfrm>
            <a:off x="777240" y="25146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Sinal × fundo, reconstrução de jatos, análises do bóson de Higgs</a:t>
            </a:r>
            <a:endParaRPr lang="en-US" sz="1400" dirty="0"/>
          </a:p>
        </p:txBody>
      </p:sp>
      <p:sp>
        <p:nvSpPr>
          <p:cNvPr id="9" name="cartao-118"/>
          <p:cNvSpPr/>
          <p:nvPr/>
        </p:nvSpPr>
        <p:spPr>
          <a:xfrm>
            <a:off x="3337560" y="1600200"/>
            <a:ext cx="251460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circulo-119"/>
          <p:cNvSpPr/>
          <p:nvPr/>
        </p:nvSpPr>
        <p:spPr>
          <a:xfrm>
            <a:off x="3566160" y="18288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one-FaMagnet-12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1965960"/>
            <a:ext cx="274320" cy="274320"/>
          </a:xfrm>
          <a:prstGeom prst="rect">
            <a:avLst/>
          </a:prstGeom>
        </p:spPr>
      </p:pic>
      <p:sp>
        <p:nvSpPr>
          <p:cNvPr id="12" name="texto-121"/>
          <p:cNvSpPr txBox="1"/>
          <p:nvPr/>
        </p:nvSpPr>
        <p:spPr>
          <a:xfrm>
            <a:off x="4251960" y="1828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Matéria condensada</a:t>
            </a:r>
            <a:endParaRPr lang="en-US" sz="1600" dirty="0"/>
          </a:p>
        </p:txBody>
      </p:sp>
      <p:sp>
        <p:nvSpPr>
          <p:cNvPr id="13" name="texto-122"/>
          <p:cNvSpPr txBox="1"/>
          <p:nvPr/>
        </p:nvSpPr>
        <p:spPr>
          <a:xfrm>
            <a:off x="3566160" y="25146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Fases e transições identificadas em configurações de spins</a:t>
            </a:r>
            <a:endParaRPr lang="en-US" sz="1400" dirty="0"/>
          </a:p>
        </p:txBody>
      </p:sp>
      <p:sp>
        <p:nvSpPr>
          <p:cNvPr id="14" name="cartao-123"/>
          <p:cNvSpPr/>
          <p:nvPr/>
        </p:nvSpPr>
        <p:spPr>
          <a:xfrm>
            <a:off x="6126480" y="1600200"/>
            <a:ext cx="251460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circulo-124"/>
          <p:cNvSpPr/>
          <p:nvPr/>
        </p:nvSpPr>
        <p:spPr>
          <a:xfrm>
            <a:off x="6355080" y="18288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cone-FaSatelliteDish-12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965960"/>
            <a:ext cx="274320" cy="274320"/>
          </a:xfrm>
          <a:prstGeom prst="rect">
            <a:avLst/>
          </a:prstGeom>
        </p:spPr>
      </p:pic>
      <p:sp>
        <p:nvSpPr>
          <p:cNvPr id="17" name="texto-126"/>
          <p:cNvSpPr txBox="1"/>
          <p:nvPr/>
        </p:nvSpPr>
        <p:spPr>
          <a:xfrm>
            <a:off x="7040880" y="1828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Astrofísica</a:t>
            </a:r>
            <a:endParaRPr lang="en-US" sz="1600" dirty="0"/>
          </a:p>
        </p:txBody>
      </p:sp>
      <p:sp>
        <p:nvSpPr>
          <p:cNvPr id="18" name="texto-127"/>
          <p:cNvSpPr txBox="1"/>
          <p:nvPr/>
        </p:nvSpPr>
        <p:spPr>
          <a:xfrm>
            <a:off x="6355080" y="25146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Morfologia de galáxias, lentes gravitacionais, emuladores</a:t>
            </a:r>
            <a:endParaRPr lang="en-US" sz="1400" dirty="0"/>
          </a:p>
        </p:txBody>
      </p:sp>
      <p:sp>
        <p:nvSpPr>
          <p:cNvPr id="19" name="cartao-128"/>
          <p:cNvSpPr/>
          <p:nvPr/>
        </p:nvSpPr>
        <p:spPr>
          <a:xfrm>
            <a:off x="548640" y="3931920"/>
            <a:ext cx="251460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circulo-129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one-FaWaveSquare-13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297680"/>
            <a:ext cx="274320" cy="274320"/>
          </a:xfrm>
          <a:prstGeom prst="rect">
            <a:avLst/>
          </a:prstGeom>
        </p:spPr>
      </p:pic>
      <p:sp>
        <p:nvSpPr>
          <p:cNvPr id="22" name="texto-131"/>
          <p:cNvSpPr txBox="1"/>
          <p:nvPr/>
        </p:nvSpPr>
        <p:spPr>
          <a:xfrm>
            <a:off x="1463040" y="41605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Ondas gravitacionais</a:t>
            </a:r>
            <a:endParaRPr lang="en-US" sz="1600" dirty="0"/>
          </a:p>
        </p:txBody>
      </p:sp>
      <p:sp>
        <p:nvSpPr>
          <p:cNvPr id="23" name="texto-132"/>
          <p:cNvSpPr txBox="1"/>
          <p:nvPr/>
        </p:nvSpPr>
        <p:spPr>
          <a:xfrm>
            <a:off x="777240" y="48463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Classificação de ruídos transitórios nos detectores do LIGO</a:t>
            </a:r>
            <a:endParaRPr lang="en-US" sz="1400" dirty="0"/>
          </a:p>
        </p:txBody>
      </p:sp>
      <p:sp>
        <p:nvSpPr>
          <p:cNvPr id="24" name="cartao-133"/>
          <p:cNvSpPr/>
          <p:nvPr/>
        </p:nvSpPr>
        <p:spPr>
          <a:xfrm>
            <a:off x="3337560" y="3931920"/>
            <a:ext cx="251460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circulo-134"/>
          <p:cNvSpPr/>
          <p:nvPr/>
        </p:nvSpPr>
        <p:spPr>
          <a:xfrm>
            <a:off x="3566160" y="41605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6" name="icone-FaCloudSunRain-13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3320" y="4297680"/>
            <a:ext cx="274320" cy="274320"/>
          </a:xfrm>
          <a:prstGeom prst="rect">
            <a:avLst/>
          </a:prstGeom>
        </p:spPr>
      </p:pic>
      <p:sp>
        <p:nvSpPr>
          <p:cNvPr id="27" name="texto-136"/>
          <p:cNvSpPr txBox="1"/>
          <p:nvPr/>
        </p:nvSpPr>
        <p:spPr>
          <a:xfrm>
            <a:off x="4251960" y="41605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Atmosfera</a:t>
            </a:r>
            <a:endParaRPr lang="en-US" sz="1600" dirty="0"/>
          </a:p>
        </p:txBody>
      </p:sp>
      <p:sp>
        <p:nvSpPr>
          <p:cNvPr id="28" name="texto-137"/>
          <p:cNvSpPr txBox="1"/>
          <p:nvPr/>
        </p:nvSpPr>
        <p:spPr>
          <a:xfrm>
            <a:off x="3566160" y="48463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Previsão do tempo com ML já compete com modelos numéricos</a:t>
            </a:r>
            <a:endParaRPr lang="en-US" sz="1400" dirty="0"/>
          </a:p>
        </p:txBody>
      </p:sp>
      <p:sp>
        <p:nvSpPr>
          <p:cNvPr id="29" name="cartao-138"/>
          <p:cNvSpPr/>
          <p:nvPr/>
        </p:nvSpPr>
        <p:spPr>
          <a:xfrm>
            <a:off x="6126480" y="3931920"/>
            <a:ext cx="251460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circulo-139"/>
          <p:cNvSpPr/>
          <p:nvPr/>
        </p:nvSpPr>
        <p:spPr>
          <a:xfrm>
            <a:off x="6355080" y="41605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icone-FaDice-14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4297680"/>
            <a:ext cx="274320" cy="274320"/>
          </a:xfrm>
          <a:prstGeom prst="rect">
            <a:avLst/>
          </a:prstGeom>
        </p:spPr>
      </p:pic>
      <p:sp>
        <p:nvSpPr>
          <p:cNvPr id="32" name="texto-141"/>
          <p:cNvSpPr txBox="1"/>
          <p:nvPr/>
        </p:nvSpPr>
        <p:spPr>
          <a:xfrm>
            <a:off x="7040880" y="41605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Simulação</a:t>
            </a:r>
            <a:endParaRPr lang="en-US" sz="1600" dirty="0"/>
          </a:p>
        </p:txBody>
      </p:sp>
      <p:sp>
        <p:nvSpPr>
          <p:cNvPr id="33" name="texto-142"/>
          <p:cNvSpPr txBox="1"/>
          <p:nvPr/>
        </p:nvSpPr>
        <p:spPr>
          <a:xfrm>
            <a:off x="6355080" y="48463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Modelos generativos como substitutos rápidos de simulações caras</a:t>
            </a:r>
            <a:endParaRPr lang="en-US" sz="1400" dirty="0"/>
          </a:p>
        </p:txBody>
      </p:sp>
      <p:sp>
        <p:nvSpPr>
          <p:cNvPr id="34" name="cartao-143"/>
          <p:cNvSpPr/>
          <p:nvPr/>
        </p:nvSpPr>
        <p:spPr>
          <a:xfrm>
            <a:off x="8915400" y="1600200"/>
            <a:ext cx="2724912" cy="4389120"/>
          </a:xfrm>
          <a:prstGeom prst="roundRect">
            <a:avLst>
              <a:gd name="adj" fmla="val 268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circulo-144"/>
          <p:cNvSpPr/>
          <p:nvPr/>
        </p:nvSpPr>
        <p:spPr>
          <a:xfrm>
            <a:off x="9189720" y="18745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6" name="icone-FaMedal-14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72600" y="2057400"/>
            <a:ext cx="365760" cy="365760"/>
          </a:xfrm>
          <a:prstGeom prst="rect">
            <a:avLst/>
          </a:prstGeom>
        </p:spPr>
      </p:pic>
      <p:sp>
        <p:nvSpPr>
          <p:cNvPr id="37" name="texto-146"/>
          <p:cNvSpPr txBox="1"/>
          <p:nvPr/>
        </p:nvSpPr>
        <p:spPr>
          <a:xfrm>
            <a:off x="9189720" y="27889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Nobel de Física 2024</a:t>
            </a:r>
            <a:endParaRPr lang="en-US" sz="1900" dirty="0"/>
          </a:p>
        </p:txBody>
      </p:sp>
      <p:sp>
        <p:nvSpPr>
          <p:cNvPr id="38" name="texto-147"/>
          <p:cNvSpPr txBox="1"/>
          <p:nvPr/>
        </p:nvSpPr>
        <p:spPr>
          <a:xfrm>
            <a:off x="9189720" y="35204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John Hopfield e Geoffrey Hinton</a:t>
            </a:r>
            <a:endParaRPr lang="en-US" sz="1500" dirty="0"/>
          </a:p>
        </p:txBody>
      </p:sp>
      <p:sp>
        <p:nvSpPr>
          <p:cNvPr id="39" name="texto-148"/>
          <p:cNvSpPr txBox="1"/>
          <p:nvPr/>
        </p:nvSpPr>
        <p:spPr>
          <a:xfrm>
            <a:off x="9189720" y="416052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Redes neurais com raízes na física estatística: sistemas de spins e a distribuição de Boltzmann.</a:t>
            </a:r>
            <a:endParaRPr lang="en-US" sz="15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TIPOS DE APRENDIZADO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Três formas de aprender com dados</a:t>
            </a:r>
            <a:endParaRPr lang="en-US" sz="3400" dirty="0"/>
          </a:p>
        </p:txBody>
      </p:sp>
      <p:sp>
        <p:nvSpPr>
          <p:cNvPr id="4" name="cartao-149"/>
          <p:cNvSpPr/>
          <p:nvPr/>
        </p:nvSpPr>
        <p:spPr>
          <a:xfrm>
            <a:off x="548640" y="1600200"/>
            <a:ext cx="3502152" cy="3977640"/>
          </a:xfrm>
          <a:prstGeom prst="roundRect">
            <a:avLst>
              <a:gd name="adj" fmla="val 20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circulo-150"/>
          <p:cNvSpPr/>
          <p:nvPr/>
        </p:nvSpPr>
        <p:spPr>
          <a:xfrm>
            <a:off x="822960" y="18745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e-FaTags-15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2045970"/>
            <a:ext cx="342900" cy="342900"/>
          </a:xfrm>
          <a:prstGeom prst="rect">
            <a:avLst/>
          </a:prstGeom>
        </p:spPr>
      </p:pic>
      <p:sp>
        <p:nvSpPr>
          <p:cNvPr id="7" name="texto-152"/>
          <p:cNvSpPr txBox="1"/>
          <p:nvPr/>
        </p:nvSpPr>
        <p:spPr>
          <a:xfrm>
            <a:off x="1691640" y="1874520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Supervisionado</a:t>
            </a:r>
            <a:endParaRPr lang="en-US" sz="2100" dirty="0"/>
          </a:p>
        </p:txBody>
      </p:sp>
      <p:sp>
        <p:nvSpPr>
          <p:cNvPr id="8" name="texto-153"/>
          <p:cNvSpPr txBox="1"/>
          <p:nvPr/>
        </p:nvSpPr>
        <p:spPr>
          <a:xfrm>
            <a:off x="822960" y="2788920"/>
            <a:ext cx="2953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Pares (x, y): a entrada e a resposta correta</a:t>
            </a:r>
            <a:endParaRPr lang="en-US" sz="1700" dirty="0"/>
          </a:p>
        </p:txBody>
      </p:sp>
      <p:sp>
        <p:nvSpPr>
          <p:cNvPr id="9" name="texto-154"/>
          <p:cNvSpPr txBox="1"/>
          <p:nvPr/>
        </p:nvSpPr>
        <p:spPr>
          <a:xfrm>
            <a:off x="822960" y="3611880"/>
            <a:ext cx="2953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Regressão: y contínuo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Classificação: y é uma categoria</a:t>
            </a:r>
            <a:endParaRPr lang="en-US" sz="1600" dirty="0"/>
          </a:p>
        </p:txBody>
      </p:sp>
      <p:sp>
        <p:nvSpPr>
          <p:cNvPr id="10" name="etiqueta-155"/>
          <p:cNvSpPr/>
          <p:nvPr/>
        </p:nvSpPr>
        <p:spPr>
          <a:xfrm>
            <a:off x="822960" y="4937760"/>
            <a:ext cx="2953512" cy="365760"/>
          </a:xfrm>
          <a:prstGeom prst="roundRect">
            <a:avLst>
              <a:gd name="adj" fmla="val 4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o-156"/>
          <p:cNvSpPr txBox="1"/>
          <p:nvPr/>
        </p:nvSpPr>
        <p:spPr>
          <a:xfrm>
            <a:off x="822960" y="493776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Aulas 3, 5, 6, 7 e 9</a:t>
            </a:r>
            <a:endParaRPr lang="en-US" sz="1300" dirty="0"/>
          </a:p>
        </p:txBody>
      </p:sp>
      <p:sp>
        <p:nvSpPr>
          <p:cNvPr id="12" name="cartao-157"/>
          <p:cNvSpPr/>
          <p:nvPr/>
        </p:nvSpPr>
        <p:spPr>
          <a:xfrm>
            <a:off x="4329684" y="1600200"/>
            <a:ext cx="3502152" cy="3977640"/>
          </a:xfrm>
          <a:prstGeom prst="roundRect">
            <a:avLst>
              <a:gd name="adj" fmla="val 20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circulo-158"/>
          <p:cNvSpPr/>
          <p:nvPr/>
        </p:nvSpPr>
        <p:spPr>
          <a:xfrm>
            <a:off x="4604004" y="18745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one-FaObjectGroup-15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454" y="2045970"/>
            <a:ext cx="342900" cy="342900"/>
          </a:xfrm>
          <a:prstGeom prst="rect">
            <a:avLst/>
          </a:prstGeom>
        </p:spPr>
      </p:pic>
      <p:sp>
        <p:nvSpPr>
          <p:cNvPr id="15" name="texto-160"/>
          <p:cNvSpPr txBox="1"/>
          <p:nvPr/>
        </p:nvSpPr>
        <p:spPr>
          <a:xfrm>
            <a:off x="5472684" y="1874520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supervisionado</a:t>
            </a:r>
            <a:endParaRPr lang="en-US" sz="2100" dirty="0"/>
          </a:p>
        </p:txBody>
      </p:sp>
      <p:sp>
        <p:nvSpPr>
          <p:cNvPr id="16" name="texto-161"/>
          <p:cNvSpPr txBox="1"/>
          <p:nvPr/>
        </p:nvSpPr>
        <p:spPr>
          <a:xfrm>
            <a:off x="4604004" y="2788920"/>
            <a:ext cx="2953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Só x, sem rótulos: encontrar estrutura</a:t>
            </a:r>
            <a:endParaRPr lang="en-US" sz="1700" dirty="0"/>
          </a:p>
        </p:txBody>
      </p:sp>
      <p:sp>
        <p:nvSpPr>
          <p:cNvPr id="17" name="texto-162"/>
          <p:cNvSpPr txBox="1"/>
          <p:nvPr/>
        </p:nvSpPr>
        <p:spPr>
          <a:xfrm>
            <a:off x="4604004" y="3611880"/>
            <a:ext cx="2953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Agrupamento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Redução de dimensionalidade</a:t>
            </a:r>
            <a:endParaRPr lang="en-US" sz="1600" dirty="0"/>
          </a:p>
        </p:txBody>
      </p:sp>
      <p:sp>
        <p:nvSpPr>
          <p:cNvPr id="18" name="etiqueta-163"/>
          <p:cNvSpPr/>
          <p:nvPr/>
        </p:nvSpPr>
        <p:spPr>
          <a:xfrm>
            <a:off x="4604004" y="4937760"/>
            <a:ext cx="2953512" cy="365760"/>
          </a:xfrm>
          <a:prstGeom prst="roundRect">
            <a:avLst>
              <a:gd name="adj" fmla="val 4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o-164"/>
          <p:cNvSpPr txBox="1"/>
          <p:nvPr/>
        </p:nvSpPr>
        <p:spPr>
          <a:xfrm>
            <a:off x="4604004" y="493776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Aulas 4 e 8</a:t>
            </a:r>
            <a:endParaRPr lang="en-US" sz="1300" dirty="0"/>
          </a:p>
        </p:txBody>
      </p:sp>
      <p:sp>
        <p:nvSpPr>
          <p:cNvPr id="20" name="cartao-165"/>
          <p:cNvSpPr/>
          <p:nvPr/>
        </p:nvSpPr>
        <p:spPr>
          <a:xfrm>
            <a:off x="8110728" y="1600200"/>
            <a:ext cx="3502152" cy="3977640"/>
          </a:xfrm>
          <a:prstGeom prst="roundRect">
            <a:avLst>
              <a:gd name="adj" fmla="val 20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circulo-166"/>
          <p:cNvSpPr/>
          <p:nvPr/>
        </p:nvSpPr>
        <p:spPr>
          <a:xfrm>
            <a:off x="8385048" y="18745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cone-FaWandMagicSparkles-16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6498" y="2045970"/>
            <a:ext cx="342900" cy="342900"/>
          </a:xfrm>
          <a:prstGeom prst="rect">
            <a:avLst/>
          </a:prstGeom>
        </p:spPr>
      </p:pic>
      <p:sp>
        <p:nvSpPr>
          <p:cNvPr id="23" name="texto-168"/>
          <p:cNvSpPr txBox="1"/>
          <p:nvPr/>
        </p:nvSpPr>
        <p:spPr>
          <a:xfrm>
            <a:off x="9253728" y="1874520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Generativo</a:t>
            </a:r>
            <a:endParaRPr lang="en-US" sz="2100" dirty="0"/>
          </a:p>
        </p:txBody>
      </p:sp>
      <p:sp>
        <p:nvSpPr>
          <p:cNvPr id="24" name="texto-169"/>
          <p:cNvSpPr txBox="1"/>
          <p:nvPr/>
        </p:nvSpPr>
        <p:spPr>
          <a:xfrm>
            <a:off x="8385048" y="2788920"/>
            <a:ext cx="2953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Aprender a distribuição p(x) e gerar amostras novas</a:t>
            </a:r>
            <a:endParaRPr lang="en-US" sz="1700" dirty="0"/>
          </a:p>
        </p:txBody>
      </p:sp>
      <p:sp>
        <p:nvSpPr>
          <p:cNvPr id="25" name="texto-170"/>
          <p:cNvSpPr txBox="1"/>
          <p:nvPr/>
        </p:nvSpPr>
        <p:spPr>
          <a:xfrm>
            <a:off x="8385048" y="3611880"/>
            <a:ext cx="2953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Imagens, eventos de um detector, configurações físicas</a:t>
            </a:r>
            <a:endParaRPr lang="en-US" sz="1600" dirty="0"/>
          </a:p>
        </p:txBody>
      </p:sp>
      <p:sp>
        <p:nvSpPr>
          <p:cNvPr id="26" name="etiqueta-171"/>
          <p:cNvSpPr/>
          <p:nvPr/>
        </p:nvSpPr>
        <p:spPr>
          <a:xfrm>
            <a:off x="8385048" y="4937760"/>
            <a:ext cx="2953512" cy="365760"/>
          </a:xfrm>
          <a:prstGeom prst="roundRect">
            <a:avLst>
              <a:gd name="adj" fmla="val 4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texto-172"/>
          <p:cNvSpPr txBox="1"/>
          <p:nvPr/>
        </p:nvSpPr>
        <p:spPr>
          <a:xfrm>
            <a:off x="8385048" y="493776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Aulas 10 a 13</a:t>
            </a:r>
            <a:endParaRPr lang="en-US" sz="1300" dirty="0"/>
          </a:p>
        </p:txBody>
      </p:sp>
      <p:sp>
        <p:nvSpPr>
          <p:cNvPr id="28" name="texto-173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Aprendizado por reforço, em que um agente aprende por tentativa e erro com recompensas, fica fora do escopo do curso.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TIPOS DE APRENDIZADO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Onde cada aula se encaixa</a:t>
            </a:r>
            <a:endParaRPr lang="en-US" sz="3400" dirty="0"/>
          </a:p>
        </p:txBody>
      </p:sp>
      <p:graphicFrame>
        <p:nvGraphicFramePr>
          <p:cNvPr id="11" name="tabela-1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059936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Aula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Tema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Tipo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Tarefa típica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Regressão linear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Supervisionado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Regressão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K-means e PCA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Não supervisionado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Agrupamento, redução de dimensionalidade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Árvore de decisão e random forest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Supervisionado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Classificação e regressão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SVM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Supervisionado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Classificação e regressão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Redes neurais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Supervisionado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Classificação e regressão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Autoencoder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Auto-supervisionado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Compressão, detecção de anomalias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CNN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Supervisionado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Classificação de imagens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10–11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GANs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Generativo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Geração de amostras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12–13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Difusão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Generativo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Geração de amostras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o-175"/>
          <p:cNvSpPr txBox="1"/>
          <p:nvPr/>
        </p:nvSpPr>
        <p:spPr>
          <a:xfrm>
            <a:off x="548640" y="5623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Classificação: </a:t>
            </a:r>
            <a:r>
              <a:rPr lang="en-US" sz="1600" dirty="0">
                <a:solidFill>
                  <a:schemeClr val="tx1"/>
                </a:solidFill>
              </a:rPr>
              <a:t>classes conhecidas, com rótulos.     </a:t>
            </a:r>
            <a:r>
              <a:rPr lang="en-US" sz="1600" b="1" dirty="0">
                <a:solidFill>
                  <a:schemeClr val="tx1"/>
                </a:solidFill>
              </a:rPr>
              <a:t>Agrupamento: </a:t>
            </a:r>
            <a:r>
              <a:rPr lang="en-US" sz="1600" dirty="0">
                <a:solidFill>
                  <a:schemeClr val="tx1"/>
                </a:solidFill>
              </a:rPr>
              <a:t>grupos descobertos a partir dos dados.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OS INGREDIENTES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Todo método: dados, modelo, perda e otimização</a:t>
            </a:r>
            <a:endParaRPr lang="en-US" sz="3400" dirty="0"/>
          </a:p>
        </p:txBody>
      </p:sp>
      <p:sp>
        <p:nvSpPr>
          <p:cNvPr id="4" name="cartao-176"/>
          <p:cNvSpPr/>
          <p:nvPr/>
        </p:nvSpPr>
        <p:spPr>
          <a:xfrm>
            <a:off x="548640" y="1600200"/>
            <a:ext cx="2560320" cy="39776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circulo-177"/>
          <p:cNvSpPr/>
          <p:nvPr/>
        </p:nvSpPr>
        <p:spPr>
          <a:xfrm>
            <a:off x="822960" y="18745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e-FaDatabase-17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2045970"/>
            <a:ext cx="342900" cy="342900"/>
          </a:xfrm>
          <a:prstGeom prst="rect">
            <a:avLst/>
          </a:prstGeom>
        </p:spPr>
      </p:pic>
      <p:sp>
        <p:nvSpPr>
          <p:cNvPr id="7" name="texto-179"/>
          <p:cNvSpPr txBox="1"/>
          <p:nvPr/>
        </p:nvSpPr>
        <p:spPr>
          <a:xfrm>
            <a:off x="1645920" y="18745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</a:t>
            </a:r>
            <a:endParaRPr lang="en-US" sz="2100" dirty="0"/>
          </a:p>
        </p:txBody>
      </p:sp>
      <p:sp>
        <p:nvSpPr>
          <p:cNvPr id="8" name="texto-180"/>
          <p:cNvSpPr txBox="1"/>
          <p:nvPr/>
        </p:nvSpPr>
        <p:spPr>
          <a:xfrm>
            <a:off x="822960" y="278892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Exemplos (x</a:t>
            </a:r>
            <a:r>
              <a:rPr lang="en-US" sz="1600" baseline="-40000" dirty="0">
                <a:solidFill>
                  <a:schemeClr val="tx1"/>
                </a:solidFill>
              </a:rPr>
              <a:t>i</a:t>
            </a:r>
            <a:r>
              <a:rPr lang="en-US" sz="1600" dirty="0">
                <a:solidFill>
                  <a:schemeClr val="tx1"/>
                </a:solidFill>
              </a:rPr>
              <a:t>, y</a:t>
            </a:r>
            <a:r>
              <a:rPr lang="en-US" sz="1600" baseline="-40000" dirty="0">
                <a:solidFill>
                  <a:schemeClr val="tx1"/>
                </a:solidFill>
              </a:rPr>
              <a:t>i</a:t>
            </a:r>
            <a:r>
              <a:rPr lang="en-US" sz="1600" dirty="0">
                <a:solidFill>
                  <a:schemeClr val="tx1"/>
                </a:solidFill>
              </a:rPr>
              <a:t>): atributos e rótulos, organizados numa matriz X e num vetor y.</a:t>
            </a:r>
            <a:endParaRPr lang="en-US" sz="1600" dirty="0"/>
          </a:p>
        </p:txBody>
      </p:sp>
      <p:sp>
        <p:nvSpPr>
          <p:cNvPr id="9" name="cartao-181"/>
          <p:cNvSpPr/>
          <p:nvPr/>
        </p:nvSpPr>
        <p:spPr>
          <a:xfrm>
            <a:off x="3383280" y="1600200"/>
            <a:ext cx="2560320" cy="39776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circulo-182"/>
          <p:cNvSpPr/>
          <p:nvPr/>
        </p:nvSpPr>
        <p:spPr>
          <a:xfrm>
            <a:off x="3657600" y="18745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e-FaCubes-18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9050" y="2045970"/>
            <a:ext cx="342900" cy="342900"/>
          </a:xfrm>
          <a:prstGeom prst="rect">
            <a:avLst/>
          </a:prstGeom>
        </p:spPr>
      </p:pic>
      <p:sp>
        <p:nvSpPr>
          <p:cNvPr id="12" name="texto-184"/>
          <p:cNvSpPr txBox="1"/>
          <p:nvPr/>
        </p:nvSpPr>
        <p:spPr>
          <a:xfrm>
            <a:off x="4480560" y="18745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</a:t>
            </a:r>
            <a:endParaRPr lang="en-US" sz="2100" dirty="0"/>
          </a:p>
        </p:txBody>
      </p:sp>
      <p:sp>
        <p:nvSpPr>
          <p:cNvPr id="13" name="texto-185"/>
          <p:cNvSpPr txBox="1"/>
          <p:nvPr/>
        </p:nvSpPr>
        <p:spPr>
          <a:xfrm>
            <a:off x="3657600" y="278892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Uma família de funções com parâmetros θ.</a:t>
            </a:r>
            <a:endParaRPr lang="en-US" sz="1600" dirty="0"/>
          </a:p>
        </p:txBody>
      </p:sp>
      <p:pic>
        <p:nvPicPr>
          <p:cNvPr id="14" name="equacao-186" descr="Equaçã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0606" y="4343400"/>
            <a:ext cx="965667" cy="283464"/>
          </a:xfrm>
          <a:prstGeom prst="rect">
            <a:avLst/>
          </a:prstGeom>
        </p:spPr>
      </p:pic>
      <p:sp>
        <p:nvSpPr>
          <p:cNvPr id="15" name="cartao-187"/>
          <p:cNvSpPr/>
          <p:nvPr/>
        </p:nvSpPr>
        <p:spPr>
          <a:xfrm>
            <a:off x="6217920" y="1600200"/>
            <a:ext cx="2560320" cy="39776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circulo-188"/>
          <p:cNvSpPr/>
          <p:nvPr/>
        </p:nvSpPr>
        <p:spPr>
          <a:xfrm>
            <a:off x="6492240" y="18745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one-FaBullseye-18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3690" y="2045970"/>
            <a:ext cx="342900" cy="342900"/>
          </a:xfrm>
          <a:prstGeom prst="rect">
            <a:avLst/>
          </a:prstGeom>
        </p:spPr>
      </p:pic>
      <p:sp>
        <p:nvSpPr>
          <p:cNvPr id="18" name="texto-190"/>
          <p:cNvSpPr txBox="1"/>
          <p:nvPr/>
        </p:nvSpPr>
        <p:spPr>
          <a:xfrm>
            <a:off x="7315200" y="18745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Perda</a:t>
            </a:r>
            <a:endParaRPr lang="en-US" sz="2100" dirty="0"/>
          </a:p>
        </p:txBody>
      </p:sp>
      <p:sp>
        <p:nvSpPr>
          <p:cNvPr id="19" name="texto-191"/>
          <p:cNvSpPr txBox="1"/>
          <p:nvPr/>
        </p:nvSpPr>
        <p:spPr>
          <a:xfrm>
            <a:off x="6492240" y="278892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Mede o quão ruins são as previsões.</a:t>
            </a:r>
            <a:endParaRPr lang="en-US" sz="1600" dirty="0"/>
          </a:p>
        </p:txBody>
      </p:sp>
      <p:pic>
        <p:nvPicPr>
          <p:cNvPr id="20" name="equacao-192" descr="Equaçã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4343400"/>
            <a:ext cx="2103120" cy="542454"/>
          </a:xfrm>
          <a:prstGeom prst="rect">
            <a:avLst/>
          </a:prstGeom>
        </p:spPr>
      </p:pic>
      <p:sp>
        <p:nvSpPr>
          <p:cNvPr id="21" name="cartao-193"/>
          <p:cNvSpPr/>
          <p:nvPr/>
        </p:nvSpPr>
        <p:spPr>
          <a:xfrm>
            <a:off x="9052560" y="1600200"/>
            <a:ext cx="2560320" cy="39776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circulo-194"/>
          <p:cNvSpPr/>
          <p:nvPr/>
        </p:nvSpPr>
        <p:spPr>
          <a:xfrm>
            <a:off x="9326880" y="18745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cone-FaArrowTrendDown-19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8330" y="2045970"/>
            <a:ext cx="342900" cy="342900"/>
          </a:xfrm>
          <a:prstGeom prst="rect">
            <a:avLst/>
          </a:prstGeom>
        </p:spPr>
      </p:pic>
      <p:sp>
        <p:nvSpPr>
          <p:cNvPr id="24" name="texto-196"/>
          <p:cNvSpPr txBox="1"/>
          <p:nvPr/>
        </p:nvSpPr>
        <p:spPr>
          <a:xfrm>
            <a:off x="10149840" y="1874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Otimização</a:t>
            </a:r>
            <a:endParaRPr lang="en-US" sz="2100" dirty="0"/>
          </a:p>
        </p:txBody>
      </p:sp>
      <p:sp>
        <p:nvSpPr>
          <p:cNvPr id="25" name="texto-197"/>
          <p:cNvSpPr txBox="1"/>
          <p:nvPr/>
        </p:nvSpPr>
        <p:spPr>
          <a:xfrm>
            <a:off x="9326880" y="278892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Encontra os parâmetros que minimizam a perda.</a:t>
            </a:r>
            <a:endParaRPr lang="en-US" sz="1600" dirty="0"/>
          </a:p>
        </p:txBody>
      </p:sp>
      <p:pic>
        <p:nvPicPr>
          <p:cNvPr id="26" name="equacao-198" descr="Equação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06738" y="4343400"/>
            <a:ext cx="1851965" cy="434645"/>
          </a:xfrm>
          <a:prstGeom prst="rect">
            <a:avLst/>
          </a:prstGeom>
        </p:spPr>
      </p:pic>
      <p:sp>
        <p:nvSpPr>
          <p:cNvPr id="27" name="texto-199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chemeClr val="tx2"/>
                </a:solidFill>
              </a:rPr>
              <a:t>De um método para outro, o que muda quase sempre é o modelo e a perda.</a:t>
            </a:r>
            <a:endParaRPr lang="en-US" sz="17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OS INGREDIENTES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Dados e modelo</a:t>
            </a:r>
            <a:endParaRPr lang="en-US" sz="3400" dirty="0"/>
          </a:p>
        </p:txBody>
      </p:sp>
      <p:sp>
        <p:nvSpPr>
          <p:cNvPr id="4" name="texto-200"/>
          <p:cNvSpPr txBox="1"/>
          <p:nvPr/>
        </p:nvSpPr>
        <p:spPr>
          <a:xfrm>
            <a:off x="548640" y="1554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</a:t>
            </a:r>
            <a:endParaRPr lang="en-US" sz="2100" dirty="0"/>
          </a:p>
        </p:txBody>
      </p:sp>
      <p:sp>
        <p:nvSpPr>
          <p:cNvPr id="5" name="celula-X-201"/>
          <p:cNvSpPr/>
          <p:nvPr/>
        </p:nvSpPr>
        <p:spPr>
          <a:xfrm>
            <a:off x="1600200" y="2423160"/>
            <a:ext cx="502920" cy="384048"/>
          </a:xfrm>
          <a:prstGeom prst="rect">
            <a:avLst/>
          </a:prstGeom>
          <a:solidFill>
            <a:schemeClr val="bg2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6" name="celula-X-202"/>
          <p:cNvSpPr/>
          <p:nvPr/>
        </p:nvSpPr>
        <p:spPr>
          <a:xfrm>
            <a:off x="2103120" y="2423160"/>
            <a:ext cx="502920" cy="384048"/>
          </a:xfrm>
          <a:prstGeom prst="rect">
            <a:avLst/>
          </a:prstGeom>
          <a:solidFill>
            <a:schemeClr val="bg2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7" name="celula-X-203"/>
          <p:cNvSpPr/>
          <p:nvPr/>
        </p:nvSpPr>
        <p:spPr>
          <a:xfrm>
            <a:off x="2606040" y="2423160"/>
            <a:ext cx="502920" cy="384048"/>
          </a:xfrm>
          <a:prstGeom prst="rect">
            <a:avLst/>
          </a:prstGeom>
          <a:solidFill>
            <a:schemeClr val="bg2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8" name="celula-X-204"/>
          <p:cNvSpPr/>
          <p:nvPr/>
        </p:nvSpPr>
        <p:spPr>
          <a:xfrm>
            <a:off x="1600200" y="2807208"/>
            <a:ext cx="502920" cy="384048"/>
          </a:xfrm>
          <a:prstGeom prst="rect">
            <a:avLst/>
          </a:prstGeom>
          <a:solidFill>
            <a:schemeClr val="bg2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9" name="celula-X-205"/>
          <p:cNvSpPr/>
          <p:nvPr/>
        </p:nvSpPr>
        <p:spPr>
          <a:xfrm>
            <a:off x="2103120" y="2807208"/>
            <a:ext cx="502920" cy="384048"/>
          </a:xfrm>
          <a:prstGeom prst="rect">
            <a:avLst/>
          </a:prstGeom>
          <a:solidFill>
            <a:schemeClr val="bg2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0" name="celula-X-206"/>
          <p:cNvSpPr/>
          <p:nvPr/>
        </p:nvSpPr>
        <p:spPr>
          <a:xfrm>
            <a:off x="2606040" y="2807208"/>
            <a:ext cx="502920" cy="384048"/>
          </a:xfrm>
          <a:prstGeom prst="rect">
            <a:avLst/>
          </a:prstGeom>
          <a:solidFill>
            <a:schemeClr val="bg2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1" name="celula-X-207"/>
          <p:cNvSpPr/>
          <p:nvPr/>
        </p:nvSpPr>
        <p:spPr>
          <a:xfrm>
            <a:off x="1600200" y="3191256"/>
            <a:ext cx="502920" cy="384048"/>
          </a:xfrm>
          <a:prstGeom prst="rect">
            <a:avLst/>
          </a:prstGeom>
          <a:solidFill>
            <a:schemeClr val="bg2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2" name="celula-X-208"/>
          <p:cNvSpPr/>
          <p:nvPr/>
        </p:nvSpPr>
        <p:spPr>
          <a:xfrm>
            <a:off x="2103120" y="3191256"/>
            <a:ext cx="502920" cy="384048"/>
          </a:xfrm>
          <a:prstGeom prst="rect">
            <a:avLst/>
          </a:prstGeom>
          <a:solidFill>
            <a:schemeClr val="bg2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3" name="celula-X-209"/>
          <p:cNvSpPr/>
          <p:nvPr/>
        </p:nvSpPr>
        <p:spPr>
          <a:xfrm>
            <a:off x="2606040" y="3191256"/>
            <a:ext cx="502920" cy="384048"/>
          </a:xfrm>
          <a:prstGeom prst="rect">
            <a:avLst/>
          </a:prstGeom>
          <a:solidFill>
            <a:schemeClr val="bg2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4" name="celula-X-210"/>
          <p:cNvSpPr/>
          <p:nvPr/>
        </p:nvSpPr>
        <p:spPr>
          <a:xfrm>
            <a:off x="1600200" y="3575304"/>
            <a:ext cx="502920" cy="384048"/>
          </a:xfrm>
          <a:prstGeom prst="rect">
            <a:avLst/>
          </a:prstGeom>
          <a:solidFill>
            <a:schemeClr val="bg2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5" name="celula-X-211"/>
          <p:cNvSpPr/>
          <p:nvPr/>
        </p:nvSpPr>
        <p:spPr>
          <a:xfrm>
            <a:off x="2103120" y="3575304"/>
            <a:ext cx="502920" cy="384048"/>
          </a:xfrm>
          <a:prstGeom prst="rect">
            <a:avLst/>
          </a:prstGeom>
          <a:solidFill>
            <a:schemeClr val="bg2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6" name="celula-X-212"/>
          <p:cNvSpPr/>
          <p:nvPr/>
        </p:nvSpPr>
        <p:spPr>
          <a:xfrm>
            <a:off x="2606040" y="3575304"/>
            <a:ext cx="502920" cy="384048"/>
          </a:xfrm>
          <a:prstGeom prst="rect">
            <a:avLst/>
          </a:prstGeom>
          <a:solidFill>
            <a:schemeClr val="bg2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7" name="celula-X-213"/>
          <p:cNvSpPr/>
          <p:nvPr/>
        </p:nvSpPr>
        <p:spPr>
          <a:xfrm>
            <a:off x="1600200" y="3959352"/>
            <a:ext cx="502920" cy="384048"/>
          </a:xfrm>
          <a:prstGeom prst="rect">
            <a:avLst/>
          </a:prstGeom>
          <a:solidFill>
            <a:schemeClr val="bg2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8" name="celula-X-214"/>
          <p:cNvSpPr/>
          <p:nvPr/>
        </p:nvSpPr>
        <p:spPr>
          <a:xfrm>
            <a:off x="2103120" y="3959352"/>
            <a:ext cx="502920" cy="384048"/>
          </a:xfrm>
          <a:prstGeom prst="rect">
            <a:avLst/>
          </a:prstGeom>
          <a:solidFill>
            <a:schemeClr val="bg2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9" name="celula-X-215"/>
          <p:cNvSpPr/>
          <p:nvPr/>
        </p:nvSpPr>
        <p:spPr>
          <a:xfrm>
            <a:off x="2606040" y="3959352"/>
            <a:ext cx="502920" cy="384048"/>
          </a:xfrm>
          <a:prstGeom prst="rect">
            <a:avLst/>
          </a:prstGeom>
          <a:solidFill>
            <a:schemeClr val="bg2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0" name="celula-y-216"/>
          <p:cNvSpPr/>
          <p:nvPr/>
        </p:nvSpPr>
        <p:spPr>
          <a:xfrm>
            <a:off x="3429000" y="2423160"/>
            <a:ext cx="502920" cy="384048"/>
          </a:xfrm>
          <a:prstGeom prst="rect">
            <a:avLst/>
          </a:prstGeom>
          <a:solidFill>
            <a:srgbClr val="FDE7DC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1" name="celula-y-217"/>
          <p:cNvSpPr/>
          <p:nvPr/>
        </p:nvSpPr>
        <p:spPr>
          <a:xfrm>
            <a:off x="3429000" y="2807208"/>
            <a:ext cx="502920" cy="384048"/>
          </a:xfrm>
          <a:prstGeom prst="rect">
            <a:avLst/>
          </a:prstGeom>
          <a:solidFill>
            <a:srgbClr val="FDE7DC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2" name="celula-y-218"/>
          <p:cNvSpPr/>
          <p:nvPr/>
        </p:nvSpPr>
        <p:spPr>
          <a:xfrm>
            <a:off x="3429000" y="3191256"/>
            <a:ext cx="502920" cy="384048"/>
          </a:xfrm>
          <a:prstGeom prst="rect">
            <a:avLst/>
          </a:prstGeom>
          <a:solidFill>
            <a:srgbClr val="FDE7DC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3" name="celula-y-219"/>
          <p:cNvSpPr/>
          <p:nvPr/>
        </p:nvSpPr>
        <p:spPr>
          <a:xfrm>
            <a:off x="3429000" y="3575304"/>
            <a:ext cx="502920" cy="384048"/>
          </a:xfrm>
          <a:prstGeom prst="rect">
            <a:avLst/>
          </a:prstGeom>
          <a:solidFill>
            <a:srgbClr val="FDE7DC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4" name="celula-y-220"/>
          <p:cNvSpPr/>
          <p:nvPr/>
        </p:nvSpPr>
        <p:spPr>
          <a:xfrm>
            <a:off x="3429000" y="3959352"/>
            <a:ext cx="502920" cy="384048"/>
          </a:xfrm>
          <a:prstGeom prst="rect">
            <a:avLst/>
          </a:prstGeom>
          <a:solidFill>
            <a:srgbClr val="FDE7DC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5" name="texto-221"/>
          <p:cNvSpPr txBox="1"/>
          <p:nvPr/>
        </p:nvSpPr>
        <p:spPr>
          <a:xfrm>
            <a:off x="1600200" y="198424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2000" dirty="0"/>
          </a:p>
        </p:txBody>
      </p:sp>
      <p:sp>
        <p:nvSpPr>
          <p:cNvPr id="26" name="texto-222"/>
          <p:cNvSpPr txBox="1"/>
          <p:nvPr/>
        </p:nvSpPr>
        <p:spPr>
          <a:xfrm>
            <a:off x="3429000" y="19842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2000" dirty="0"/>
          </a:p>
        </p:txBody>
      </p:sp>
      <p:sp>
        <p:nvSpPr>
          <p:cNvPr id="27" name="texto-223"/>
          <p:cNvSpPr txBox="1"/>
          <p:nvPr/>
        </p:nvSpPr>
        <p:spPr>
          <a:xfrm>
            <a:off x="548640" y="2423160"/>
            <a:ext cx="960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N amostras</a:t>
            </a:r>
            <a:endParaRPr lang="en-US" sz="1400" dirty="0"/>
          </a:p>
        </p:txBody>
      </p:sp>
      <p:sp>
        <p:nvSpPr>
          <p:cNvPr id="28" name="texto-224"/>
          <p:cNvSpPr txBox="1"/>
          <p:nvPr/>
        </p:nvSpPr>
        <p:spPr>
          <a:xfrm>
            <a:off x="1600200" y="44165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d atributos</a:t>
            </a:r>
            <a:endParaRPr lang="en-US" sz="1400" dirty="0"/>
          </a:p>
        </p:txBody>
      </p:sp>
      <p:sp>
        <p:nvSpPr>
          <p:cNvPr id="29" name="texto-225"/>
          <p:cNvSpPr txBox="1"/>
          <p:nvPr/>
        </p:nvSpPr>
        <p:spPr>
          <a:xfrm>
            <a:off x="3200400" y="441655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rótulos</a:t>
            </a:r>
            <a:endParaRPr lang="en-US" sz="1400" dirty="0"/>
          </a:p>
        </p:txBody>
      </p:sp>
      <p:sp>
        <p:nvSpPr>
          <p:cNvPr id="30" name="texto-226"/>
          <p:cNvSpPr txBox="1"/>
          <p:nvPr/>
        </p:nvSpPr>
        <p:spPr>
          <a:xfrm>
            <a:off x="4114800" y="237744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Cada linha é uma amostra (um evento, uma medida); cada coluna, um atributo (energia, momento, tempo).</a:t>
            </a:r>
            <a:endParaRPr lang="en-US" sz="1500" dirty="0"/>
          </a:p>
        </p:txBody>
      </p:sp>
      <p:sp>
        <p:nvSpPr>
          <p:cNvPr id="31" name="cartao-227"/>
          <p:cNvSpPr/>
          <p:nvPr/>
        </p:nvSpPr>
        <p:spPr>
          <a:xfrm>
            <a:off x="548640" y="4800600"/>
            <a:ext cx="52120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o-228"/>
          <p:cNvSpPr txBox="1"/>
          <p:nvPr/>
        </p:nvSpPr>
        <p:spPr>
          <a:xfrm>
            <a:off x="777240" y="49194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O scikit-learn sempre espera X com formato (N, d):</a:t>
            </a:r>
            <a:endParaRPr lang="en-US" sz="1500" dirty="0"/>
          </a:p>
        </p:txBody>
      </p:sp>
      <p:sp>
        <p:nvSpPr>
          <p:cNvPr id="33" name="texto-229"/>
          <p:cNvSpPr txBox="1"/>
          <p:nvPr/>
        </p:nvSpPr>
        <p:spPr>
          <a:xfrm>
            <a:off x="777240" y="5349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t.reshape(-1, 1)   →   (N, 1)</a:t>
            </a:r>
            <a:endParaRPr lang="en-US" sz="1600" dirty="0"/>
          </a:p>
        </p:txBody>
      </p:sp>
      <p:sp>
        <p:nvSpPr>
          <p:cNvPr id="34" name="texto-230"/>
          <p:cNvSpPr txBox="1"/>
          <p:nvPr/>
        </p:nvSpPr>
        <p:spPr>
          <a:xfrm>
            <a:off x="6309360" y="15544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</a:t>
            </a:r>
            <a:endParaRPr lang="en-US" sz="2100" dirty="0"/>
          </a:p>
        </p:txBody>
      </p:sp>
      <p:pic>
        <p:nvPicPr>
          <p:cNvPr id="35" name="equacao-231" descr="Equaç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03120"/>
            <a:ext cx="1090270" cy="320040"/>
          </a:xfrm>
          <a:prstGeom prst="rect">
            <a:avLst/>
          </a:prstGeom>
        </p:spPr>
      </p:pic>
      <p:sp>
        <p:nvSpPr>
          <p:cNvPr id="36" name="texto-232"/>
          <p:cNvSpPr txBox="1"/>
          <p:nvPr/>
        </p:nvSpPr>
        <p:spPr>
          <a:xfrm>
            <a:off x="6309360" y="26060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</a:rPr>
              <a:t>Exemplo: um polinômio de grau p</a:t>
            </a:r>
            <a:endParaRPr lang="en-US" sz="1500" dirty="0"/>
          </a:p>
        </p:txBody>
      </p:sp>
      <p:pic>
        <p:nvPicPr>
          <p:cNvPr id="37" name="equacao-233" descr="Equaçã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971800"/>
            <a:ext cx="3927958" cy="362712"/>
          </a:xfrm>
          <a:prstGeom prst="rect">
            <a:avLst/>
          </a:prstGeom>
        </p:spPr>
      </p:pic>
      <p:sp>
        <p:nvSpPr>
          <p:cNvPr id="38" name="cartao-234"/>
          <p:cNvSpPr/>
          <p:nvPr/>
        </p:nvSpPr>
        <p:spPr>
          <a:xfrm>
            <a:off x="6309360" y="3794760"/>
            <a:ext cx="2587752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texto-235"/>
          <p:cNvSpPr txBox="1"/>
          <p:nvPr/>
        </p:nvSpPr>
        <p:spPr>
          <a:xfrm>
            <a:off x="6537960" y="3995928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Parâmetros θ</a:t>
            </a:r>
            <a:endParaRPr lang="en-US" sz="1800" dirty="0"/>
          </a:p>
        </p:txBody>
      </p:sp>
      <p:sp>
        <p:nvSpPr>
          <p:cNvPr id="40" name="texto-236"/>
          <p:cNvSpPr txBox="1"/>
          <p:nvPr/>
        </p:nvSpPr>
        <p:spPr>
          <a:xfrm>
            <a:off x="6537960" y="4526280"/>
            <a:ext cx="21305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Ajustados pelo fit. Exemplo: os coeficientes do polinômio.</a:t>
            </a:r>
            <a:endParaRPr lang="en-US" sz="1500" dirty="0"/>
          </a:p>
        </p:txBody>
      </p:sp>
      <p:sp>
        <p:nvSpPr>
          <p:cNvPr id="41" name="cartao-237"/>
          <p:cNvSpPr/>
          <p:nvPr/>
        </p:nvSpPr>
        <p:spPr>
          <a:xfrm>
            <a:off x="9052560" y="3794760"/>
            <a:ext cx="2587752" cy="2148840"/>
          </a:xfrm>
          <a:prstGeom prst="roundRect">
            <a:avLst>
              <a:gd name="adj" fmla="val 340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texto-238"/>
          <p:cNvSpPr txBox="1"/>
          <p:nvPr/>
        </p:nvSpPr>
        <p:spPr>
          <a:xfrm>
            <a:off x="9281160" y="3995928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Hiperparâmetros</a:t>
            </a:r>
            <a:endParaRPr lang="en-US" sz="1800" dirty="0"/>
          </a:p>
        </p:txBody>
      </p:sp>
      <p:sp>
        <p:nvSpPr>
          <p:cNvPr id="43" name="texto-239"/>
          <p:cNvSpPr txBox="1"/>
          <p:nvPr/>
        </p:nvSpPr>
        <p:spPr>
          <a:xfrm>
            <a:off x="9281160" y="4526280"/>
            <a:ext cx="21305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Escolhidos antes do fit. Exemplos: o grau p, o número de árvores, o número de camadas.</a:t>
            </a:r>
            <a:endParaRPr lang="en-US" sz="15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OS INGREDIENTES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Perda e otimização</a:t>
            </a:r>
            <a:endParaRPr lang="en-US" sz="3400" dirty="0"/>
          </a:p>
        </p:txBody>
      </p:sp>
      <p:sp>
        <p:nvSpPr>
          <p:cNvPr id="4" name="texto-240"/>
          <p:cNvSpPr txBox="1"/>
          <p:nvPr/>
        </p:nvSpPr>
        <p:spPr>
          <a:xfrm>
            <a:off x="548640" y="15544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Perda: erro quadrático médio</a:t>
            </a:r>
            <a:endParaRPr lang="en-US" sz="1900" dirty="0"/>
          </a:p>
        </p:txBody>
      </p:sp>
      <p:pic>
        <p:nvPicPr>
          <p:cNvPr id="5" name="equacao-241" descr="Equaç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65960"/>
            <a:ext cx="2941076" cy="758586"/>
          </a:xfrm>
          <a:prstGeom prst="rect">
            <a:avLst/>
          </a:prstGeom>
        </p:spPr>
      </p:pic>
      <p:sp>
        <p:nvSpPr>
          <p:cNvPr id="6" name="texto-242"/>
          <p:cNvSpPr txBox="1"/>
          <p:nvPr/>
        </p:nvSpPr>
        <p:spPr>
          <a:xfrm>
            <a:off x="548640" y="283464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Com ruído gaussiano, minimizar o erro quadrático é maximizar a verossimilhança: é o χ² do laboratório.</a:t>
            </a:r>
            <a:endParaRPr lang="en-US" sz="1500" dirty="0"/>
          </a:p>
        </p:txBody>
      </p:sp>
      <p:sp>
        <p:nvSpPr>
          <p:cNvPr id="7" name="texto-243"/>
          <p:cNvSpPr txBox="1"/>
          <p:nvPr/>
        </p:nvSpPr>
        <p:spPr>
          <a:xfrm>
            <a:off x="548640" y="36118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Otimização</a:t>
            </a:r>
            <a:endParaRPr lang="en-US" sz="1900" dirty="0"/>
          </a:p>
        </p:txBody>
      </p:sp>
      <p:pic>
        <p:nvPicPr>
          <p:cNvPr id="8" name="equacao-244" descr="Equaçã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23360"/>
            <a:ext cx="2090928" cy="490728"/>
          </a:xfrm>
          <a:prstGeom prst="rect">
            <a:avLst/>
          </a:prstGeom>
        </p:spPr>
      </p:pic>
      <p:pic>
        <p:nvPicPr>
          <p:cNvPr id="9" name="equacao-245" descr="Equaçã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4096512"/>
            <a:ext cx="2163470" cy="320040"/>
          </a:xfrm>
          <a:prstGeom prst="rect">
            <a:avLst/>
          </a:prstGeom>
        </p:spPr>
      </p:pic>
      <p:sp>
        <p:nvSpPr>
          <p:cNvPr id="10" name="texto-246"/>
          <p:cNvSpPr txBox="1"/>
          <p:nvPr/>
        </p:nvSpPr>
        <p:spPr>
          <a:xfrm>
            <a:off x="548640" y="475488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Solução analítica (aula 3) ou iterativa: gradiente descendente (aula 7), com η = </a:t>
            </a:r>
            <a:r>
              <a:rPr lang="en-US" sz="1500" b="1" dirty="0">
                <a:solidFill>
                  <a:schemeClr val="tx1"/>
                </a:solidFill>
              </a:rPr>
              <a:t>taxa de aprendizado</a:t>
            </a:r>
            <a:r>
              <a:rPr lang="en-US" sz="1500" dirty="0">
                <a:solidFill>
                  <a:schemeClr val="tx1"/>
                </a:solidFill>
              </a:rPr>
              <a:t>, um hiperparâmetro.</a:t>
            </a:r>
            <a:endParaRPr lang="en-US" sz="1500" dirty="0"/>
          </a:p>
        </p:txBody>
      </p:sp>
      <p:pic>
        <p:nvPicPr>
          <p:cNvPr id="11" name="figura-247" descr="Curva de perda com passos do gradiente descendent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1600200"/>
            <a:ext cx="5120640" cy="2936445"/>
          </a:xfrm>
          <a:prstGeom prst="rect">
            <a:avLst/>
          </a:prstGeom>
        </p:spPr>
      </p:pic>
      <p:sp>
        <p:nvSpPr>
          <p:cNvPr id="12" name="texto-248"/>
          <p:cNvSpPr txBox="1"/>
          <p:nvPr/>
        </p:nvSpPr>
        <p:spPr>
          <a:xfrm>
            <a:off x="6492240" y="4628085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Gradiente descendente: uma partícula descendo um potencial com atrito alto.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GENERALIZAÇÃO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O objetivo é prever bem dados novos</a:t>
            </a:r>
            <a:endParaRPr lang="en-US" sz="3400" dirty="0"/>
          </a:p>
        </p:txBody>
      </p:sp>
      <p:sp>
        <p:nvSpPr>
          <p:cNvPr id="4" name="cartao-249"/>
          <p:cNvSpPr/>
          <p:nvPr/>
        </p:nvSpPr>
        <p:spPr>
          <a:xfrm>
            <a:off x="548640" y="1645920"/>
            <a:ext cx="539496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circulo-250"/>
          <p:cNvSpPr/>
          <p:nvPr/>
        </p:nvSpPr>
        <p:spPr>
          <a:xfrm>
            <a:off x="822960" y="19202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cone-FaListCheck-25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2091690"/>
            <a:ext cx="342900" cy="342900"/>
          </a:xfrm>
          <a:prstGeom prst="rect">
            <a:avLst/>
          </a:prstGeom>
        </p:spPr>
      </p:pic>
      <p:sp>
        <p:nvSpPr>
          <p:cNvPr id="7" name="texto-252"/>
          <p:cNvSpPr txBox="1"/>
          <p:nvPr/>
        </p:nvSpPr>
        <p:spPr>
          <a:xfrm>
            <a:off x="1691640" y="19202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 de treino</a:t>
            </a:r>
            <a:endParaRPr lang="en-US" sz="2300" dirty="0"/>
          </a:p>
        </p:txBody>
      </p:sp>
      <p:sp>
        <p:nvSpPr>
          <p:cNvPr id="8" name="texto-253"/>
          <p:cNvSpPr txBox="1"/>
          <p:nvPr/>
        </p:nvSpPr>
        <p:spPr>
          <a:xfrm>
            <a:off x="822960" y="28803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Quão bem o modelo reproduz os dados usados no ajuste.</a:t>
            </a:r>
            <a:endParaRPr lang="en-US" sz="1900" dirty="0"/>
          </a:p>
        </p:txBody>
      </p:sp>
      <p:sp>
        <p:nvSpPr>
          <p:cNvPr id="9" name="cartao-254"/>
          <p:cNvSpPr/>
          <p:nvPr/>
        </p:nvSpPr>
        <p:spPr>
          <a:xfrm>
            <a:off x="6245352" y="1645920"/>
            <a:ext cx="5394960" cy="2651760"/>
          </a:xfrm>
          <a:prstGeom prst="roundRect">
            <a:avLst>
              <a:gd name="adj" fmla="val 27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circulo-255"/>
          <p:cNvSpPr/>
          <p:nvPr/>
        </p:nvSpPr>
        <p:spPr>
          <a:xfrm>
            <a:off x="6519672" y="19202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e-FaBullseye-25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1122" y="2091690"/>
            <a:ext cx="342900" cy="342900"/>
          </a:xfrm>
          <a:prstGeom prst="rect">
            <a:avLst/>
          </a:prstGeom>
        </p:spPr>
      </p:pic>
      <p:sp>
        <p:nvSpPr>
          <p:cNvPr id="12" name="texto-257"/>
          <p:cNvSpPr txBox="1"/>
          <p:nvPr/>
        </p:nvSpPr>
        <p:spPr>
          <a:xfrm>
            <a:off x="7388352" y="19202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 de generalização</a:t>
            </a:r>
            <a:endParaRPr lang="en-US" sz="2300" dirty="0"/>
          </a:p>
        </p:txBody>
      </p:sp>
      <p:sp>
        <p:nvSpPr>
          <p:cNvPr id="13" name="texto-258"/>
          <p:cNvSpPr txBox="1"/>
          <p:nvPr/>
        </p:nvSpPr>
        <p:spPr>
          <a:xfrm>
            <a:off x="6519672" y="28803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bg2"/>
                </a:solidFill>
              </a:rPr>
              <a:t>Erro esperado em dados novos, vindos do mesmo processo. É o que realmente importa.</a:t>
            </a:r>
            <a:endParaRPr lang="en-US" sz="1900" dirty="0"/>
          </a:p>
        </p:txBody>
      </p:sp>
      <p:sp>
        <p:nvSpPr>
          <p:cNvPr id="14" name="texto-259"/>
          <p:cNvSpPr txBox="1"/>
          <p:nvPr/>
        </p:nvSpPr>
        <p:spPr>
          <a:xfrm>
            <a:off x="548640" y="486997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Um modelo pode ter erro de treino zero e ser inútil.</a:t>
            </a:r>
            <a:endParaRPr lang="en-US" sz="2100" dirty="0"/>
          </a:p>
        </p:txBody>
      </p:sp>
      <p:sp>
        <p:nvSpPr>
          <p:cNvPr id="15" name="texto-260"/>
          <p:cNvSpPr txBox="1"/>
          <p:nvPr/>
        </p:nvSpPr>
        <p:spPr>
          <a:xfrm>
            <a:off x="548640" y="54186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Decorar a lista de exercícios ou entender a matéria: só a prova, com questões novas, distingue os dois.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GENERALIZAÇÃO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Demonstração: queda livre medida com ruído</a:t>
            </a:r>
            <a:endParaRPr lang="en-US" sz="3400" dirty="0"/>
          </a:p>
        </p:txBody>
      </p:sp>
      <p:sp>
        <p:nvSpPr>
          <p:cNvPr id="4" name="cartao-261"/>
          <p:cNvSpPr/>
          <p:nvPr/>
        </p:nvSpPr>
        <p:spPr>
          <a:xfrm>
            <a:off x="548640" y="1600200"/>
            <a:ext cx="5669280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o-262"/>
          <p:cNvSpPr txBox="1"/>
          <p:nvPr/>
        </p:nvSpPr>
        <p:spPr>
          <a:xfrm>
            <a:off x="822960" y="18288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experimento</a:t>
            </a:r>
            <a:endParaRPr lang="en-US" sz="2000" dirty="0"/>
          </a:p>
        </p:txBody>
      </p:sp>
      <p:pic>
        <p:nvPicPr>
          <p:cNvPr id="6" name="equacao-263" descr="Equaç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77440"/>
            <a:ext cx="2105406" cy="395478"/>
          </a:xfrm>
          <a:prstGeom prst="rect">
            <a:avLst/>
          </a:prstGeom>
        </p:spPr>
      </p:pic>
      <p:sp>
        <p:nvSpPr>
          <p:cNvPr id="7" name="texto-264"/>
          <p:cNvSpPr txBox="1"/>
          <p:nvPr/>
        </p:nvSpPr>
        <p:spPr>
          <a:xfrm>
            <a:off x="822960" y="3154680"/>
            <a:ext cx="5212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h₀ = 10 m e g = 9,8 m/s²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30 medidas entre 0 e 1 s, com ruído σ = 0,15 m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70% dos pontos para treino, 30% para teste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Modelos: polinômios de grau 1, 2 e 15</a:t>
            </a:r>
            <a:endParaRPr lang="en-US" sz="1800" dirty="0"/>
          </a:p>
        </p:txBody>
      </p:sp>
      <p:sp>
        <p:nvSpPr>
          <p:cNvPr id="8" name="cartao-265"/>
          <p:cNvSpPr/>
          <p:nvPr/>
        </p:nvSpPr>
        <p:spPr>
          <a:xfrm>
            <a:off x="6492240" y="1600200"/>
            <a:ext cx="5148072" cy="4343400"/>
          </a:xfrm>
          <a:prstGeom prst="roundRect">
            <a:avLst>
              <a:gd name="adj" fmla="val 168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circulo-266"/>
          <p:cNvSpPr/>
          <p:nvPr/>
        </p:nvSpPr>
        <p:spPr>
          <a:xfrm>
            <a:off x="6812280" y="18745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e-FaCircleQuestion-26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2057400"/>
            <a:ext cx="365760" cy="365760"/>
          </a:xfrm>
          <a:prstGeom prst="rect">
            <a:avLst/>
          </a:prstGeom>
        </p:spPr>
      </p:pic>
      <p:sp>
        <p:nvSpPr>
          <p:cNvPr id="11" name="texto-268"/>
          <p:cNvSpPr txBox="1"/>
          <p:nvPr/>
        </p:nvSpPr>
        <p:spPr>
          <a:xfrm>
            <a:off x="6812280" y="28346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grau terá o menor erro de treino?</a:t>
            </a:r>
            <a:endParaRPr lang="en-US" sz="2800" dirty="0"/>
          </a:p>
        </p:txBody>
      </p:sp>
      <p:sp>
        <p:nvSpPr>
          <p:cNvPr id="12" name="texto-269"/>
          <p:cNvSpPr txBox="1"/>
          <p:nvPr/>
        </p:nvSpPr>
        <p:spPr>
          <a:xfrm>
            <a:off x="6812280" y="41148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o menor erro de teste?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GENERALIZAÇÃO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Mesmos dados, três modelos</a:t>
            </a:r>
            <a:endParaRPr lang="en-US" sz="3400" dirty="0"/>
          </a:p>
        </p:txBody>
      </p:sp>
      <p:pic>
        <p:nvPicPr>
          <p:cNvPr id="4" name="figura-270" descr="Ajustes de grau 1, 2 e 15 aos dados de queda liv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463040"/>
            <a:ext cx="9966960" cy="3903437"/>
          </a:xfrm>
          <a:prstGeom prst="rect">
            <a:avLst/>
          </a:prstGeom>
        </p:spPr>
      </p:pic>
      <p:sp>
        <p:nvSpPr>
          <p:cNvPr id="5" name="cartao-271"/>
          <p:cNvSpPr/>
          <p:nvPr/>
        </p:nvSpPr>
        <p:spPr>
          <a:xfrm>
            <a:off x="548640" y="5440680"/>
            <a:ext cx="3502152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o-272"/>
          <p:cNvSpPr txBox="1"/>
          <p:nvPr/>
        </p:nvSpPr>
        <p:spPr>
          <a:xfrm>
            <a:off x="731520" y="5440680"/>
            <a:ext cx="3227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Grau 1   </a:t>
            </a:r>
            <a:r>
              <a:rPr lang="en-US" sz="1500" dirty="0">
                <a:solidFill>
                  <a:schemeClr val="tx1"/>
                </a:solidFill>
              </a:rPr>
              <a:t>EQM treino 0,144  ·  teste 0,248</a:t>
            </a:r>
            <a:endParaRPr lang="en-US" sz="1500" dirty="0"/>
          </a:p>
        </p:txBody>
      </p:sp>
      <p:sp>
        <p:nvSpPr>
          <p:cNvPr id="7" name="cartao-273"/>
          <p:cNvSpPr/>
          <p:nvPr/>
        </p:nvSpPr>
        <p:spPr>
          <a:xfrm>
            <a:off x="4329684" y="5440680"/>
            <a:ext cx="3502152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o-274"/>
          <p:cNvSpPr txBox="1"/>
          <p:nvPr/>
        </p:nvSpPr>
        <p:spPr>
          <a:xfrm>
            <a:off x="4512564" y="5440680"/>
            <a:ext cx="3227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Grau 2   </a:t>
            </a:r>
            <a:r>
              <a:rPr lang="en-US" sz="1500" dirty="0">
                <a:solidFill>
                  <a:schemeClr val="bg1"/>
                </a:solidFill>
              </a:rPr>
              <a:t>EQM treino 0,021  ·  teste 0,023</a:t>
            </a:r>
            <a:endParaRPr lang="en-US" sz="1500" dirty="0"/>
          </a:p>
        </p:txBody>
      </p:sp>
      <p:sp>
        <p:nvSpPr>
          <p:cNvPr id="9" name="cartao-275"/>
          <p:cNvSpPr/>
          <p:nvPr/>
        </p:nvSpPr>
        <p:spPr>
          <a:xfrm>
            <a:off x="8110728" y="5440680"/>
            <a:ext cx="3502152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o-276"/>
          <p:cNvSpPr txBox="1"/>
          <p:nvPr/>
        </p:nvSpPr>
        <p:spPr>
          <a:xfrm>
            <a:off x="8293608" y="5440680"/>
            <a:ext cx="3227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Grau 15   </a:t>
            </a:r>
            <a:r>
              <a:rPr lang="en-US" sz="1500" dirty="0">
                <a:solidFill>
                  <a:schemeClr val="tx1"/>
                </a:solidFill>
              </a:rPr>
              <a:t>EQM treino 0,008  ·  teste 1,273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GENERALIZAÇÃO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O que os números mostram</a:t>
            </a:r>
            <a:endParaRPr lang="en-US" sz="3400" dirty="0"/>
          </a:p>
        </p:txBody>
      </p:sp>
      <p:sp>
        <p:nvSpPr>
          <p:cNvPr id="4" name="cartao-277"/>
          <p:cNvSpPr/>
          <p:nvPr/>
        </p:nvSpPr>
        <p:spPr>
          <a:xfrm>
            <a:off x="548640" y="1600200"/>
            <a:ext cx="3502152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o-278"/>
          <p:cNvSpPr txBox="1"/>
          <p:nvPr/>
        </p:nvSpPr>
        <p:spPr>
          <a:xfrm>
            <a:off x="822960" y="1874520"/>
            <a:ext cx="2953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0,023 m²</a:t>
            </a:r>
            <a:endParaRPr lang="en-US" sz="4400" dirty="0"/>
          </a:p>
        </p:txBody>
      </p:sp>
      <p:sp>
        <p:nvSpPr>
          <p:cNvPr id="6" name="texto-279"/>
          <p:cNvSpPr txBox="1"/>
          <p:nvPr/>
        </p:nvSpPr>
        <p:spPr>
          <a:xfrm>
            <a:off x="822960" y="283464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Erro de teste do grau 2: praticamente σ² = 0,0225, o melhor possível</a:t>
            </a:r>
            <a:endParaRPr lang="en-US" sz="1600" dirty="0"/>
          </a:p>
        </p:txBody>
      </p:sp>
      <p:sp>
        <p:nvSpPr>
          <p:cNvPr id="7" name="cartao-280"/>
          <p:cNvSpPr/>
          <p:nvPr/>
        </p:nvSpPr>
        <p:spPr>
          <a:xfrm>
            <a:off x="4329684" y="1600200"/>
            <a:ext cx="3502152" cy="2286000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o-281"/>
          <p:cNvSpPr txBox="1"/>
          <p:nvPr/>
        </p:nvSpPr>
        <p:spPr>
          <a:xfrm>
            <a:off x="4604004" y="1874520"/>
            <a:ext cx="2953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1,27 m²</a:t>
            </a:r>
            <a:endParaRPr lang="en-US" sz="4400" dirty="0"/>
          </a:p>
        </p:txBody>
      </p:sp>
      <p:sp>
        <p:nvSpPr>
          <p:cNvPr id="9" name="texto-282"/>
          <p:cNvSpPr txBox="1"/>
          <p:nvPr/>
        </p:nvSpPr>
        <p:spPr>
          <a:xfrm>
            <a:off x="4604004" y="283464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Erro de teste do grau 15: o modelo aprendeu o ruído das medidas</a:t>
            </a:r>
            <a:endParaRPr lang="en-US" sz="1600" dirty="0"/>
          </a:p>
        </p:txBody>
      </p:sp>
      <p:sp>
        <p:nvSpPr>
          <p:cNvPr id="10" name="cartao-283"/>
          <p:cNvSpPr/>
          <p:nvPr/>
        </p:nvSpPr>
        <p:spPr>
          <a:xfrm>
            <a:off x="8110728" y="1600200"/>
            <a:ext cx="3502152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o-284"/>
          <p:cNvSpPr txBox="1"/>
          <p:nvPr/>
        </p:nvSpPr>
        <p:spPr>
          <a:xfrm>
            <a:off x="8385048" y="1874520"/>
            <a:ext cx="2953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9,85 m/s²</a:t>
            </a:r>
            <a:endParaRPr lang="en-US" sz="4400" dirty="0"/>
          </a:p>
        </p:txBody>
      </p:sp>
      <p:sp>
        <p:nvSpPr>
          <p:cNvPr id="12" name="texto-285"/>
          <p:cNvSpPr txBox="1"/>
          <p:nvPr/>
        </p:nvSpPr>
        <p:spPr>
          <a:xfrm>
            <a:off x="8385048" y="283464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Valor de g obtido do coeficiente de t² do modelo de grau 2</a:t>
            </a:r>
            <a:endParaRPr lang="en-US" sz="1600" dirty="0"/>
          </a:p>
        </p:txBody>
      </p:sp>
      <p:sp>
        <p:nvSpPr>
          <p:cNvPr id="13" name="circulo-286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cone-FaArrowTrendDown-28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4320540"/>
            <a:ext cx="228600" cy="228600"/>
          </a:xfrm>
          <a:prstGeom prst="rect">
            <a:avLst/>
          </a:prstGeom>
        </p:spPr>
      </p:pic>
      <p:sp>
        <p:nvSpPr>
          <p:cNvPr id="15" name="texto-288"/>
          <p:cNvSpPr txBox="1"/>
          <p:nvPr/>
        </p:nvSpPr>
        <p:spPr>
          <a:xfrm>
            <a:off x="1188720" y="42062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O erro de treino sempre diminui com o grau: o polinômio de grau 15 contém o de grau 2 como caso particular.</a:t>
            </a:r>
            <a:endParaRPr lang="en-US" sz="1700" dirty="0"/>
          </a:p>
        </p:txBody>
      </p:sp>
      <p:sp>
        <p:nvSpPr>
          <p:cNvPr id="16" name="circulo-289"/>
          <p:cNvSpPr/>
          <p:nvPr/>
        </p:nvSpPr>
        <p:spPr>
          <a:xfrm>
            <a:off x="548640" y="482803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cone-FaTriangleExclamation-29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4942332"/>
            <a:ext cx="228600" cy="228600"/>
          </a:xfrm>
          <a:prstGeom prst="rect">
            <a:avLst/>
          </a:prstGeom>
        </p:spPr>
      </p:pic>
      <p:sp>
        <p:nvSpPr>
          <p:cNvPr id="18" name="texto-291"/>
          <p:cNvSpPr txBox="1"/>
          <p:nvPr/>
        </p:nvSpPr>
        <p:spPr>
          <a:xfrm>
            <a:off x="1188720" y="48280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Erro de treino menor que o ruído das medidas (σ²) é sinal de sobreajuste.</a:t>
            </a:r>
            <a:endParaRPr lang="en-US" sz="1700" dirty="0"/>
          </a:p>
        </p:txBody>
      </p:sp>
      <p:sp>
        <p:nvSpPr>
          <p:cNvPr id="19" name="circulo-292"/>
          <p:cNvSpPr/>
          <p:nvPr/>
        </p:nvSpPr>
        <p:spPr>
          <a:xfrm>
            <a:off x="548640" y="5449824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icone-FaFlask-29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" y="5564124"/>
            <a:ext cx="228600" cy="228600"/>
          </a:xfrm>
          <a:prstGeom prst="rect">
            <a:avLst/>
          </a:prstGeom>
        </p:spPr>
      </p:pic>
      <p:sp>
        <p:nvSpPr>
          <p:cNvPr id="21" name="texto-294"/>
          <p:cNvSpPr txBox="1"/>
          <p:nvPr/>
        </p:nvSpPr>
        <p:spPr>
          <a:xfrm>
            <a:off x="1188720" y="544982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Aqui a física deu a forma certa do modelo. Em geral não temos essa sorte e precisamos escolher a complexidade com dados.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GENERALIZAÇÃO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A curva de complexidade</a:t>
            </a:r>
            <a:endParaRPr lang="en-US" sz="3400" dirty="0"/>
          </a:p>
        </p:txBody>
      </p:sp>
      <p:pic>
        <p:nvPicPr>
          <p:cNvPr id="4" name="figura-295" descr="Erro de treino e erro em dados novos em função do grau do polinômi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6766560" cy="3492251"/>
          </a:xfrm>
          <a:prstGeom prst="rect">
            <a:avLst/>
          </a:prstGeom>
        </p:spPr>
      </p:pic>
      <p:sp>
        <p:nvSpPr>
          <p:cNvPr id="5" name="texto-296"/>
          <p:cNvSpPr txBox="1"/>
          <p:nvPr/>
        </p:nvSpPr>
        <p:spPr>
          <a:xfrm>
            <a:off x="548640" y="5101595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Mediana sobre 300 conjuntos de 20 pontos de treino; erro em dados novos estimado com 400 pontos.</a:t>
            </a:r>
            <a:endParaRPr lang="en-US" sz="1200" dirty="0"/>
          </a:p>
        </p:txBody>
      </p:sp>
      <p:sp>
        <p:nvSpPr>
          <p:cNvPr id="6" name="cartao-297"/>
          <p:cNvSpPr/>
          <p:nvPr/>
        </p:nvSpPr>
        <p:spPr>
          <a:xfrm>
            <a:off x="7635240" y="1600200"/>
            <a:ext cx="4005072" cy="1298448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o-298"/>
          <p:cNvSpPr txBox="1"/>
          <p:nvPr/>
        </p:nvSpPr>
        <p:spPr>
          <a:xfrm>
            <a:off x="7863840" y="1737360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Subajuste</a:t>
            </a:r>
            <a:endParaRPr lang="en-US" sz="1800" dirty="0"/>
          </a:p>
        </p:txBody>
      </p:sp>
      <p:sp>
        <p:nvSpPr>
          <p:cNvPr id="8" name="texto-299"/>
          <p:cNvSpPr txBox="1"/>
          <p:nvPr/>
        </p:nvSpPr>
        <p:spPr>
          <a:xfrm>
            <a:off x="7863840" y="2103120"/>
            <a:ext cx="3547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Modelo simples demais: erro alto no treino e em dados novos.</a:t>
            </a:r>
            <a:endParaRPr lang="en-US" sz="1500" dirty="0"/>
          </a:p>
        </p:txBody>
      </p:sp>
      <p:sp>
        <p:nvSpPr>
          <p:cNvPr id="9" name="cartao-300"/>
          <p:cNvSpPr/>
          <p:nvPr/>
        </p:nvSpPr>
        <p:spPr>
          <a:xfrm>
            <a:off x="7635240" y="3063240"/>
            <a:ext cx="4005072" cy="1298448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o-301"/>
          <p:cNvSpPr txBox="1"/>
          <p:nvPr/>
        </p:nvSpPr>
        <p:spPr>
          <a:xfrm>
            <a:off x="7863840" y="3200400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Sobreajuste</a:t>
            </a:r>
            <a:endParaRPr lang="en-US" sz="1800" dirty="0"/>
          </a:p>
        </p:txBody>
      </p:sp>
      <p:sp>
        <p:nvSpPr>
          <p:cNvPr id="11" name="texto-302"/>
          <p:cNvSpPr txBox="1"/>
          <p:nvPr/>
        </p:nvSpPr>
        <p:spPr>
          <a:xfrm>
            <a:off x="7863840" y="3566160"/>
            <a:ext cx="3547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Flexível demais para os dados disponíveis: erro de treino baixo, erro em dados novos alto.</a:t>
            </a:r>
            <a:endParaRPr lang="en-US" sz="1500" dirty="0"/>
          </a:p>
        </p:txBody>
      </p:sp>
      <p:sp>
        <p:nvSpPr>
          <p:cNvPr id="12" name="cartao-303"/>
          <p:cNvSpPr/>
          <p:nvPr/>
        </p:nvSpPr>
        <p:spPr>
          <a:xfrm>
            <a:off x="7635240" y="4526280"/>
            <a:ext cx="4005072" cy="1298448"/>
          </a:xfrm>
          <a:prstGeom prst="roundRect">
            <a:avLst>
              <a:gd name="adj" fmla="val 563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o-304"/>
          <p:cNvSpPr txBox="1"/>
          <p:nvPr/>
        </p:nvSpPr>
        <p:spPr>
          <a:xfrm>
            <a:off x="7863840" y="4663440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Complexidade ideal</a:t>
            </a:r>
            <a:endParaRPr lang="en-US" sz="1800" dirty="0"/>
          </a:p>
        </p:txBody>
      </p:sp>
      <p:sp>
        <p:nvSpPr>
          <p:cNvPr id="14" name="texto-305"/>
          <p:cNvSpPr txBox="1"/>
          <p:nvPr/>
        </p:nvSpPr>
        <p:spPr>
          <a:xfrm>
            <a:off x="7863840" y="5029200"/>
            <a:ext cx="3547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A que minimiza o erro em dados novos, e não no treino.</a:t>
            </a:r>
            <a:endParaRPr lang="en-US" sz="1500" dirty="0"/>
          </a:p>
        </p:txBody>
      </p:sp>
      <p:sp>
        <p:nvSpPr>
          <p:cNvPr id="15" name="texto-306"/>
          <p:cNvSpPr txBox="1"/>
          <p:nvPr/>
        </p:nvSpPr>
        <p:spPr>
          <a:xfrm>
            <a:off x="548640" y="5596128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Mais dados </a:t>
            </a:r>
            <a:r>
              <a:rPr lang="en-US" sz="1600" dirty="0">
                <a:solidFill>
                  <a:schemeClr val="tx1"/>
                </a:solidFill>
              </a:rPr>
              <a:t>permitem modelos mais complexos sem sobreajuste. A </a:t>
            </a:r>
            <a:r>
              <a:rPr lang="en-US" sz="1600" b="1" dirty="0">
                <a:solidFill>
                  <a:schemeClr val="tx1"/>
                </a:solidFill>
              </a:rPr>
              <a:t>regularização</a:t>
            </a:r>
            <a:r>
              <a:rPr lang="en-US" sz="1600" dirty="0">
                <a:solidFill>
                  <a:schemeClr val="tx1"/>
                </a:solidFill>
              </a:rPr>
              <a:t> (aulas 3 e 7) é outra forma de controlar a complexidade.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GENERALIZAÇÃO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Viés e variância</a:t>
            </a:r>
            <a:endParaRPr lang="en-US" sz="3400" dirty="0"/>
          </a:p>
        </p:txBody>
      </p:sp>
      <p:pic>
        <p:nvPicPr>
          <p:cNvPr id="4" name="equacao-307" descr="Decomposição do erro em viés, variância e ruí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2915" y="1600200"/>
            <a:ext cx="6385865" cy="509869"/>
          </a:xfrm>
          <a:prstGeom prst="rect">
            <a:avLst/>
          </a:prstGeom>
        </p:spPr>
      </p:pic>
      <p:pic>
        <p:nvPicPr>
          <p:cNvPr id="5" name="figura-308" descr="Alvos ilustrando combinações de viés e variânci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423160"/>
            <a:ext cx="3611880" cy="3756587"/>
          </a:xfrm>
          <a:prstGeom prst="rect">
            <a:avLst/>
          </a:prstGeom>
        </p:spPr>
      </p:pic>
      <p:sp>
        <p:nvSpPr>
          <p:cNvPr id="6" name="cartao-309"/>
          <p:cNvSpPr/>
          <p:nvPr/>
        </p:nvSpPr>
        <p:spPr>
          <a:xfrm>
            <a:off x="4846320" y="2468880"/>
            <a:ext cx="6793992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o-310"/>
          <p:cNvSpPr txBox="1"/>
          <p:nvPr/>
        </p:nvSpPr>
        <p:spPr>
          <a:xfrm>
            <a:off x="5074920" y="2468880"/>
            <a:ext cx="1371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Viés</a:t>
            </a:r>
            <a:endParaRPr lang="en-US" sz="1900" dirty="0"/>
          </a:p>
        </p:txBody>
      </p:sp>
      <p:sp>
        <p:nvSpPr>
          <p:cNvPr id="8" name="texto-311"/>
          <p:cNvSpPr txBox="1"/>
          <p:nvPr/>
        </p:nvSpPr>
        <p:spPr>
          <a:xfrm>
            <a:off x="6446520" y="2468880"/>
            <a:ext cx="50109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Erro sistemático: a média das previsões se afasta da lei verdadeira. Típico de modelos rígidos (subajuste).</a:t>
            </a:r>
            <a:endParaRPr lang="en-US" sz="1500" dirty="0"/>
          </a:p>
        </p:txBody>
      </p:sp>
      <p:sp>
        <p:nvSpPr>
          <p:cNvPr id="9" name="cartao-312"/>
          <p:cNvSpPr/>
          <p:nvPr/>
        </p:nvSpPr>
        <p:spPr>
          <a:xfrm>
            <a:off x="4846320" y="3657600"/>
            <a:ext cx="6793992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o-313"/>
          <p:cNvSpPr txBox="1"/>
          <p:nvPr/>
        </p:nvSpPr>
        <p:spPr>
          <a:xfrm>
            <a:off x="5074920" y="3657600"/>
            <a:ext cx="1371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Variância</a:t>
            </a:r>
            <a:endParaRPr lang="en-US" sz="1900" dirty="0"/>
          </a:p>
        </p:txBody>
      </p:sp>
      <p:sp>
        <p:nvSpPr>
          <p:cNvPr id="11" name="texto-314"/>
          <p:cNvSpPr txBox="1"/>
          <p:nvPr/>
        </p:nvSpPr>
        <p:spPr>
          <a:xfrm>
            <a:off x="6446520" y="3657600"/>
            <a:ext cx="50109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Sensibilidade aos dados: as previsões mudam de um conjunto de dados para outro. Típico de modelos flexíveis (sobreajuste).</a:t>
            </a:r>
            <a:endParaRPr lang="en-US" sz="1500" dirty="0"/>
          </a:p>
        </p:txBody>
      </p:sp>
      <p:sp>
        <p:nvSpPr>
          <p:cNvPr id="12" name="cartao-315"/>
          <p:cNvSpPr/>
          <p:nvPr/>
        </p:nvSpPr>
        <p:spPr>
          <a:xfrm>
            <a:off x="4846320" y="4846320"/>
            <a:ext cx="6793992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o-316"/>
          <p:cNvSpPr txBox="1"/>
          <p:nvPr/>
        </p:nvSpPr>
        <p:spPr>
          <a:xfrm>
            <a:off x="5074920" y="4846320"/>
            <a:ext cx="1371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σ²</a:t>
            </a:r>
            <a:endParaRPr lang="en-US" sz="1900" dirty="0"/>
          </a:p>
        </p:txBody>
      </p:sp>
      <p:sp>
        <p:nvSpPr>
          <p:cNvPr id="14" name="texto-317"/>
          <p:cNvSpPr txBox="1"/>
          <p:nvPr/>
        </p:nvSpPr>
        <p:spPr>
          <a:xfrm>
            <a:off x="6446520" y="4846320"/>
            <a:ext cx="50109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Ruído irredutível das medidas: nenhum modelo o elimina.</a:t>
            </a:r>
            <a:endParaRPr lang="en-US" sz="1500" dirty="0"/>
          </a:p>
        </p:txBody>
      </p:sp>
      <p:sp>
        <p:nvSpPr>
          <p:cNvPr id="15" name="texto-318"/>
          <p:cNvSpPr txBox="1"/>
          <p:nvPr/>
        </p:nvSpPr>
        <p:spPr>
          <a:xfrm>
            <a:off x="4846320" y="5989320"/>
            <a:ext cx="6793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No laboratório: viés é como o erro sistemático; variância, como o erro estatístico. Aumentar a complexidade reduz o viés e aumenta a variância.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GENERALIZAÇÃO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Treino, validação e teste</a:t>
            </a:r>
            <a:endParaRPr lang="en-US" sz="3400" dirty="0"/>
          </a:p>
        </p:txBody>
      </p:sp>
      <p:sp>
        <p:nvSpPr>
          <p:cNvPr id="4" name="faixa-Treino-319"/>
          <p:cNvSpPr/>
          <p:nvPr/>
        </p:nvSpPr>
        <p:spPr>
          <a:xfrm>
            <a:off x="548640" y="1645920"/>
            <a:ext cx="6618427" cy="6400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o-320"/>
          <p:cNvSpPr txBox="1"/>
          <p:nvPr/>
        </p:nvSpPr>
        <p:spPr>
          <a:xfrm>
            <a:off x="548640" y="1645920"/>
            <a:ext cx="661842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Treino</a:t>
            </a:r>
            <a:endParaRPr lang="en-US" sz="1800" dirty="0"/>
          </a:p>
        </p:txBody>
      </p:sp>
      <p:sp>
        <p:nvSpPr>
          <p:cNvPr id="6" name="faixa-Validação-321"/>
          <p:cNvSpPr/>
          <p:nvPr/>
        </p:nvSpPr>
        <p:spPr>
          <a:xfrm>
            <a:off x="7203643" y="1645920"/>
            <a:ext cx="2181758" cy="6400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o-322"/>
          <p:cNvSpPr txBox="1"/>
          <p:nvPr/>
        </p:nvSpPr>
        <p:spPr>
          <a:xfrm>
            <a:off x="7203643" y="1645920"/>
            <a:ext cx="21817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Validação</a:t>
            </a:r>
            <a:endParaRPr lang="en-US" sz="1800" dirty="0"/>
          </a:p>
        </p:txBody>
      </p:sp>
      <p:sp>
        <p:nvSpPr>
          <p:cNvPr id="8" name="faixa-Teste-323"/>
          <p:cNvSpPr/>
          <p:nvPr/>
        </p:nvSpPr>
        <p:spPr>
          <a:xfrm>
            <a:off x="9421978" y="1645920"/>
            <a:ext cx="2181758" cy="6400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o-324"/>
          <p:cNvSpPr txBox="1"/>
          <p:nvPr/>
        </p:nvSpPr>
        <p:spPr>
          <a:xfrm>
            <a:off x="9421978" y="1645920"/>
            <a:ext cx="21817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Teste</a:t>
            </a:r>
            <a:endParaRPr lang="en-US" sz="1800" dirty="0"/>
          </a:p>
        </p:txBody>
      </p:sp>
      <p:sp>
        <p:nvSpPr>
          <p:cNvPr id="10" name="cartao-325"/>
          <p:cNvSpPr/>
          <p:nvPr/>
        </p:nvSpPr>
        <p:spPr>
          <a:xfrm>
            <a:off x="548640" y="2606040"/>
            <a:ext cx="350215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o-326"/>
          <p:cNvSpPr txBox="1"/>
          <p:nvPr/>
        </p:nvSpPr>
        <p:spPr>
          <a:xfrm>
            <a:off x="822960" y="2834640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Treino</a:t>
            </a:r>
            <a:endParaRPr lang="en-US" sz="2100" dirty="0"/>
          </a:p>
        </p:txBody>
      </p:sp>
      <p:sp>
        <p:nvSpPr>
          <p:cNvPr id="12" name="texto-327"/>
          <p:cNvSpPr txBox="1"/>
          <p:nvPr/>
        </p:nvSpPr>
        <p:spPr>
          <a:xfrm>
            <a:off x="2770632" y="2834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accent4"/>
                </a:solidFill>
              </a:rPr>
              <a:t>60–80%</a:t>
            </a:r>
            <a:endParaRPr lang="en-US" sz="1600" dirty="0"/>
          </a:p>
        </p:txBody>
      </p:sp>
      <p:sp>
        <p:nvSpPr>
          <p:cNvPr id="13" name="texto-328"/>
          <p:cNvSpPr txBox="1"/>
          <p:nvPr/>
        </p:nvSpPr>
        <p:spPr>
          <a:xfrm>
            <a:off x="822960" y="3474720"/>
            <a:ext cx="2953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Ajustar os parâmetros θ</a:t>
            </a:r>
            <a:endParaRPr lang="en-US" sz="1800" dirty="0"/>
          </a:p>
        </p:txBody>
      </p:sp>
      <p:sp>
        <p:nvSpPr>
          <p:cNvPr id="14" name="cartao-329"/>
          <p:cNvSpPr/>
          <p:nvPr/>
        </p:nvSpPr>
        <p:spPr>
          <a:xfrm>
            <a:off x="4329684" y="2606040"/>
            <a:ext cx="350215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o-330"/>
          <p:cNvSpPr txBox="1"/>
          <p:nvPr/>
        </p:nvSpPr>
        <p:spPr>
          <a:xfrm>
            <a:off x="4604004" y="2834640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</a:t>
            </a:r>
            <a:endParaRPr lang="en-US" sz="2100" dirty="0"/>
          </a:p>
        </p:txBody>
      </p:sp>
      <p:sp>
        <p:nvSpPr>
          <p:cNvPr id="16" name="texto-331"/>
          <p:cNvSpPr txBox="1"/>
          <p:nvPr/>
        </p:nvSpPr>
        <p:spPr>
          <a:xfrm>
            <a:off x="6551676" y="2834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accent4"/>
                </a:solidFill>
              </a:rPr>
              <a:t>10–20%</a:t>
            </a:r>
            <a:endParaRPr lang="en-US" sz="1600" dirty="0"/>
          </a:p>
        </p:txBody>
      </p:sp>
      <p:sp>
        <p:nvSpPr>
          <p:cNvPr id="17" name="texto-332"/>
          <p:cNvSpPr txBox="1"/>
          <p:nvPr/>
        </p:nvSpPr>
        <p:spPr>
          <a:xfrm>
            <a:off x="4604004" y="3474720"/>
            <a:ext cx="2953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Escolher hiperparâmetros e comparar modelos</a:t>
            </a:r>
            <a:endParaRPr lang="en-US" sz="1800" dirty="0"/>
          </a:p>
        </p:txBody>
      </p:sp>
      <p:sp>
        <p:nvSpPr>
          <p:cNvPr id="18" name="cartao-333"/>
          <p:cNvSpPr/>
          <p:nvPr/>
        </p:nvSpPr>
        <p:spPr>
          <a:xfrm>
            <a:off x="8110728" y="2606040"/>
            <a:ext cx="350215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o-334"/>
          <p:cNvSpPr txBox="1"/>
          <p:nvPr/>
        </p:nvSpPr>
        <p:spPr>
          <a:xfrm>
            <a:off x="8385048" y="2834640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</a:t>
            </a:r>
            <a:endParaRPr lang="en-US" sz="2100" dirty="0"/>
          </a:p>
        </p:txBody>
      </p:sp>
      <p:sp>
        <p:nvSpPr>
          <p:cNvPr id="20" name="texto-335"/>
          <p:cNvSpPr txBox="1"/>
          <p:nvPr/>
        </p:nvSpPr>
        <p:spPr>
          <a:xfrm>
            <a:off x="10332720" y="2834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accent4"/>
                </a:solidFill>
              </a:rPr>
              <a:t>10–20%</a:t>
            </a:r>
            <a:endParaRPr lang="en-US" sz="1600" dirty="0"/>
          </a:p>
        </p:txBody>
      </p:sp>
      <p:sp>
        <p:nvSpPr>
          <p:cNvPr id="21" name="texto-336"/>
          <p:cNvSpPr txBox="1"/>
          <p:nvPr/>
        </p:nvSpPr>
        <p:spPr>
          <a:xfrm>
            <a:off x="8385048" y="3474720"/>
            <a:ext cx="2953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Estimar o desempenho final, uma única vez</a:t>
            </a:r>
            <a:endParaRPr lang="en-US" sz="1800" dirty="0"/>
          </a:p>
        </p:txBody>
      </p:sp>
      <p:sp>
        <p:nvSpPr>
          <p:cNvPr id="22" name="cartao-337"/>
          <p:cNvSpPr/>
          <p:nvPr/>
        </p:nvSpPr>
        <p:spPr>
          <a:xfrm>
            <a:off x="548640" y="4983480"/>
            <a:ext cx="11091672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circulo-338"/>
          <p:cNvSpPr/>
          <p:nvPr/>
        </p:nvSpPr>
        <p:spPr>
          <a:xfrm>
            <a:off x="822960" y="5166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cone-FaKey-33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5326380"/>
            <a:ext cx="320040" cy="320040"/>
          </a:xfrm>
          <a:prstGeom prst="rect">
            <a:avLst/>
          </a:prstGeom>
        </p:spPr>
      </p:pic>
      <p:sp>
        <p:nvSpPr>
          <p:cNvPr id="25" name="texto-340"/>
          <p:cNvSpPr txBox="1"/>
          <p:nvPr/>
        </p:nvSpPr>
        <p:spPr>
          <a:xfrm>
            <a:off x="1691640" y="498348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O conjunto de teste não pode influenciar nenhuma decisão. Se o usarmos para escolher o modelo, ele vira validação e a estimativa final fica otimista.</a:t>
            </a:r>
            <a:endParaRPr lang="en-US" sz="18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GENERALIZAÇÃO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Validação cruzada com k dobras</a:t>
            </a:r>
            <a:endParaRPr lang="en-US" sz="3400" dirty="0"/>
          </a:p>
        </p:txBody>
      </p:sp>
      <p:pic>
        <p:nvPicPr>
          <p:cNvPr id="4" name="figura-341" descr="Esquema da validação cruzada com 5 dobr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6309360" cy="3068517"/>
          </a:xfrm>
          <a:prstGeom prst="rect">
            <a:avLst/>
          </a:prstGeom>
        </p:spPr>
      </p:pic>
      <p:sp>
        <p:nvSpPr>
          <p:cNvPr id="5" name="texto-342"/>
          <p:cNvSpPr txBox="1"/>
          <p:nvPr/>
        </p:nvSpPr>
        <p:spPr>
          <a:xfrm>
            <a:off x="548640" y="4805877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Divida o treino em k partes (k = 5 ou 10)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Treine k vezes, validando cada vez numa parte diferente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média dos k erros estima o erro de generalização</a:t>
            </a:r>
            <a:endParaRPr lang="en-US" sz="1600" dirty="0"/>
          </a:p>
        </p:txBody>
      </p:sp>
      <p:graphicFrame>
        <p:nvGraphicFramePr>
          <p:cNvPr id="6" name="grafico-cv-343"/>
          <p:cNvGraphicFramePr/>
          <p:nvPr/>
        </p:nvGraphicFramePr>
        <p:xfrm>
          <a:off x="7178040" y="1554480"/>
          <a:ext cx="4462272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o-344"/>
          <p:cNvSpPr txBox="1"/>
          <p:nvPr/>
        </p:nvSpPr>
        <p:spPr>
          <a:xfrm>
            <a:off x="7178040" y="5532120"/>
            <a:ext cx="4462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O menor erro está no grau 2, a forma da lei verdadeira.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GENERALIZAÇÃO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Vazamento de dados</a:t>
            </a:r>
            <a:endParaRPr lang="en-US" sz="3400" dirty="0"/>
          </a:p>
        </p:txBody>
      </p:sp>
      <p:sp>
        <p:nvSpPr>
          <p:cNvPr id="4" name="texto-345"/>
          <p:cNvSpPr txBox="1"/>
          <p:nvPr/>
        </p:nvSpPr>
        <p:spPr>
          <a:xfrm>
            <a:off x="548640" y="1554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Há vazamento quando informação da validação ou do teste chega ao treino. O desempenho estimado fica otimista e não se confirma em dados realmente novos.</a:t>
            </a:r>
            <a:endParaRPr lang="en-US" sz="1800" dirty="0"/>
          </a:p>
        </p:txBody>
      </p:sp>
      <p:sp>
        <p:nvSpPr>
          <p:cNvPr id="5" name="cartao-346"/>
          <p:cNvSpPr/>
          <p:nvPr/>
        </p:nvSpPr>
        <p:spPr>
          <a:xfrm>
            <a:off x="548640" y="2514600"/>
            <a:ext cx="3502152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circulo-347"/>
          <p:cNvSpPr/>
          <p:nvPr/>
        </p:nvSpPr>
        <p:spPr>
          <a:xfrm>
            <a:off x="822960" y="27889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e-FaFilter-34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2960370"/>
            <a:ext cx="342900" cy="342900"/>
          </a:xfrm>
          <a:prstGeom prst="rect">
            <a:avLst/>
          </a:prstGeom>
        </p:spPr>
      </p:pic>
      <p:sp>
        <p:nvSpPr>
          <p:cNvPr id="8" name="texto-349"/>
          <p:cNvSpPr txBox="1"/>
          <p:nvPr/>
        </p:nvSpPr>
        <p:spPr>
          <a:xfrm>
            <a:off x="822960" y="3657600"/>
            <a:ext cx="2953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Pré-processar antes de dividir</a:t>
            </a:r>
            <a:endParaRPr lang="en-US" sz="1900" dirty="0"/>
          </a:p>
        </p:txBody>
      </p:sp>
      <p:sp>
        <p:nvSpPr>
          <p:cNvPr id="9" name="texto-350"/>
          <p:cNvSpPr txBox="1"/>
          <p:nvPr/>
        </p:nvSpPr>
        <p:spPr>
          <a:xfrm>
            <a:off x="822960" y="4389120"/>
            <a:ext cx="29535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Média e desvio padrão calculados com todos os dados, inclusive o teste. Calcule só no treino: o Pipeline faz isso.</a:t>
            </a:r>
            <a:endParaRPr lang="en-US" sz="1500" dirty="0"/>
          </a:p>
        </p:txBody>
      </p:sp>
      <p:sp>
        <p:nvSpPr>
          <p:cNvPr id="10" name="cartao-351"/>
          <p:cNvSpPr/>
          <p:nvPr/>
        </p:nvSpPr>
        <p:spPr>
          <a:xfrm>
            <a:off x="4329684" y="2514600"/>
            <a:ext cx="3502152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circulo-352"/>
          <p:cNvSpPr/>
          <p:nvPr/>
        </p:nvSpPr>
        <p:spPr>
          <a:xfrm>
            <a:off x="4604004" y="27889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e-FaLink-35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454" y="2960370"/>
            <a:ext cx="342900" cy="342900"/>
          </a:xfrm>
          <a:prstGeom prst="rect">
            <a:avLst/>
          </a:prstGeom>
        </p:spPr>
      </p:pic>
      <p:sp>
        <p:nvSpPr>
          <p:cNvPr id="13" name="texto-354"/>
          <p:cNvSpPr txBox="1"/>
          <p:nvPr/>
        </p:nvSpPr>
        <p:spPr>
          <a:xfrm>
            <a:off x="4604004" y="3657600"/>
            <a:ext cx="2953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Dados correlacionados</a:t>
            </a:r>
            <a:endParaRPr lang="en-US" sz="1900" dirty="0"/>
          </a:p>
        </p:txBody>
      </p:sp>
      <p:sp>
        <p:nvSpPr>
          <p:cNvPr id="14" name="texto-355"/>
          <p:cNvSpPr txBox="1"/>
          <p:nvPr/>
        </p:nvSpPr>
        <p:spPr>
          <a:xfrm>
            <a:off x="4604004" y="4389120"/>
            <a:ext cx="29535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Medidas consecutivas no tempo ou passos de uma cadeia de Monte Carlo são quase cópias. Divida em blocos: por tempo, cadeia ou experimento.</a:t>
            </a:r>
            <a:endParaRPr lang="en-US" sz="1500" dirty="0"/>
          </a:p>
        </p:txBody>
      </p:sp>
      <p:sp>
        <p:nvSpPr>
          <p:cNvPr id="15" name="cartao-356"/>
          <p:cNvSpPr/>
          <p:nvPr/>
        </p:nvSpPr>
        <p:spPr>
          <a:xfrm>
            <a:off x="8110728" y="2514600"/>
            <a:ext cx="3502152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circulo-357"/>
          <p:cNvSpPr/>
          <p:nvPr/>
        </p:nvSpPr>
        <p:spPr>
          <a:xfrm>
            <a:off x="8385048" y="27889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one-FaKey-35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6498" y="2960370"/>
            <a:ext cx="342900" cy="342900"/>
          </a:xfrm>
          <a:prstGeom prst="rect">
            <a:avLst/>
          </a:prstGeom>
        </p:spPr>
      </p:pic>
      <p:sp>
        <p:nvSpPr>
          <p:cNvPr id="18" name="texto-359"/>
          <p:cNvSpPr txBox="1"/>
          <p:nvPr/>
        </p:nvSpPr>
        <p:spPr>
          <a:xfrm>
            <a:off x="8385048" y="3657600"/>
            <a:ext cx="2953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Atributos que contêm a resposta</a:t>
            </a:r>
            <a:endParaRPr lang="en-US" sz="1900" dirty="0"/>
          </a:p>
        </p:txBody>
      </p:sp>
      <p:sp>
        <p:nvSpPr>
          <p:cNvPr id="19" name="texto-360"/>
          <p:cNvSpPr txBox="1"/>
          <p:nvPr/>
        </p:nvSpPr>
        <p:spPr>
          <a:xfrm>
            <a:off x="8385048" y="4389120"/>
            <a:ext cx="29535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Variáveis que só se conhecem depois do evento, ou que são calculadas a partir do próprio alvo.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MÉTRICAS E PRÉ-PROCESSAMENTO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Métricas de regressão</a:t>
            </a:r>
            <a:endParaRPr lang="en-US" sz="3400" dirty="0"/>
          </a:p>
        </p:txBody>
      </p:sp>
      <p:sp>
        <p:nvSpPr>
          <p:cNvPr id="4" name="cartao-361"/>
          <p:cNvSpPr/>
          <p:nvPr/>
        </p:nvSpPr>
        <p:spPr>
          <a:xfrm>
            <a:off x="548640" y="1600200"/>
            <a:ext cx="53949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o-362"/>
          <p:cNvSpPr txBox="1"/>
          <p:nvPr/>
        </p:nvSpPr>
        <p:spPr>
          <a:xfrm>
            <a:off x="822960" y="1828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EQM (MSE)</a:t>
            </a:r>
            <a:endParaRPr lang="en-US" sz="1900" dirty="0"/>
          </a:p>
        </p:txBody>
      </p:sp>
      <p:sp>
        <p:nvSpPr>
          <p:cNvPr id="6" name="texto-363"/>
          <p:cNvSpPr txBox="1"/>
          <p:nvPr/>
        </p:nvSpPr>
        <p:spPr>
          <a:xfrm>
            <a:off x="822960" y="233172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Unidade de y ao quadrado; penaliza muito os erros grandes.</a:t>
            </a:r>
            <a:endParaRPr lang="en-US" sz="1500" dirty="0"/>
          </a:p>
        </p:txBody>
      </p:sp>
      <p:pic>
        <p:nvPicPr>
          <p:cNvPr id="7" name="equacao-364" descr="Equaç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856" y="2271370"/>
            <a:ext cx="2304288" cy="669341"/>
          </a:xfrm>
          <a:prstGeom prst="rect">
            <a:avLst/>
          </a:prstGeom>
        </p:spPr>
      </p:pic>
      <p:sp>
        <p:nvSpPr>
          <p:cNvPr id="8" name="cartao-365"/>
          <p:cNvSpPr/>
          <p:nvPr/>
        </p:nvSpPr>
        <p:spPr>
          <a:xfrm>
            <a:off x="6245352" y="1600200"/>
            <a:ext cx="53949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o-366"/>
          <p:cNvSpPr txBox="1"/>
          <p:nvPr/>
        </p:nvSpPr>
        <p:spPr>
          <a:xfrm>
            <a:off x="6519672" y="1828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REQM (RMSE)</a:t>
            </a:r>
            <a:endParaRPr lang="en-US" sz="1900" dirty="0"/>
          </a:p>
        </p:txBody>
      </p:sp>
      <p:sp>
        <p:nvSpPr>
          <p:cNvPr id="10" name="texto-367"/>
          <p:cNvSpPr txBox="1"/>
          <p:nvPr/>
        </p:nvSpPr>
        <p:spPr>
          <a:xfrm>
            <a:off x="6519672" y="233172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Mesma unidade de y. Na demonstração: √0,023 ≈ 0,15 m = σ.</a:t>
            </a:r>
            <a:endParaRPr lang="en-US" sz="1500" dirty="0"/>
          </a:p>
        </p:txBody>
      </p:sp>
      <p:pic>
        <p:nvPicPr>
          <p:cNvPr id="11" name="equacao-368" descr="Equaçã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1510" y="2433218"/>
            <a:ext cx="1854403" cy="345643"/>
          </a:xfrm>
          <a:prstGeom prst="rect">
            <a:avLst/>
          </a:prstGeom>
        </p:spPr>
      </p:pic>
      <p:sp>
        <p:nvSpPr>
          <p:cNvPr id="12" name="cartao-369"/>
          <p:cNvSpPr/>
          <p:nvPr/>
        </p:nvSpPr>
        <p:spPr>
          <a:xfrm>
            <a:off x="548640" y="3840480"/>
            <a:ext cx="53949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o-370"/>
          <p:cNvSpPr txBox="1"/>
          <p:nvPr/>
        </p:nvSpPr>
        <p:spPr>
          <a:xfrm>
            <a:off x="822960" y="4069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EAM (MAE)</a:t>
            </a:r>
            <a:endParaRPr lang="en-US" sz="1900" dirty="0"/>
          </a:p>
        </p:txBody>
      </p:sp>
      <p:sp>
        <p:nvSpPr>
          <p:cNvPr id="14" name="texto-371"/>
          <p:cNvSpPr txBox="1"/>
          <p:nvPr/>
        </p:nvSpPr>
        <p:spPr>
          <a:xfrm>
            <a:off x="822960" y="457200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Menos sensível a pontos discrepantes (outliers).</a:t>
            </a:r>
            <a:endParaRPr lang="en-US" sz="1500" dirty="0"/>
          </a:p>
        </p:txBody>
      </p:sp>
      <p:pic>
        <p:nvPicPr>
          <p:cNvPr id="15" name="equacao-372" descr="Equaçã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8494" y="4511650"/>
            <a:ext cx="2147011" cy="669341"/>
          </a:xfrm>
          <a:prstGeom prst="rect">
            <a:avLst/>
          </a:prstGeom>
        </p:spPr>
      </p:pic>
      <p:sp>
        <p:nvSpPr>
          <p:cNvPr id="16" name="cartao-373"/>
          <p:cNvSpPr/>
          <p:nvPr/>
        </p:nvSpPr>
        <p:spPr>
          <a:xfrm>
            <a:off x="6245352" y="3840480"/>
            <a:ext cx="53949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o-374"/>
          <p:cNvSpPr txBox="1"/>
          <p:nvPr/>
        </p:nvSpPr>
        <p:spPr>
          <a:xfrm>
            <a:off x="6519672" y="4069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</a:t>
            </a:r>
            <a:endParaRPr lang="en-US" sz="1900" dirty="0"/>
          </a:p>
        </p:txBody>
      </p:sp>
      <p:sp>
        <p:nvSpPr>
          <p:cNvPr id="18" name="texto-375"/>
          <p:cNvSpPr txBox="1"/>
          <p:nvPr/>
        </p:nvSpPr>
        <p:spPr>
          <a:xfrm>
            <a:off x="6519672" y="457200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1: previsão perfeita. 0: tão bom quanto prever a média. Pode ser negativo.</a:t>
            </a:r>
            <a:endParaRPr lang="en-US" sz="1500" dirty="0"/>
          </a:p>
        </p:txBody>
      </p:sp>
      <p:pic>
        <p:nvPicPr>
          <p:cNvPr id="19" name="equacao-376" descr="Equaçã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914" y="4303166"/>
            <a:ext cx="2247595" cy="1086307"/>
          </a:xfrm>
          <a:prstGeom prst="rect">
            <a:avLst/>
          </a:prstGeom>
        </p:spPr>
      </p:pic>
      <p:sp>
        <p:nvSpPr>
          <p:cNvPr id="20" name="texto-377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scikit-learn: mean_squared_error, mean_absolute_error, r2_score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MÉTRICAS E PRÉ-PROCESSAMENTO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Métricas de classificação</a:t>
            </a:r>
            <a:endParaRPr lang="en-US" sz="3400" dirty="0"/>
          </a:p>
        </p:txBody>
      </p:sp>
      <p:sp>
        <p:nvSpPr>
          <p:cNvPr id="4" name="texto-378"/>
          <p:cNvSpPr txBox="1"/>
          <p:nvPr/>
        </p:nvSpPr>
        <p:spPr>
          <a:xfrm>
            <a:off x="1874520" y="1645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Previsto: positivo</a:t>
            </a:r>
            <a:endParaRPr lang="en-US" sz="1400" dirty="0"/>
          </a:p>
        </p:txBody>
      </p:sp>
      <p:sp>
        <p:nvSpPr>
          <p:cNvPr id="5" name="texto-379"/>
          <p:cNvSpPr txBox="1"/>
          <p:nvPr/>
        </p:nvSpPr>
        <p:spPr>
          <a:xfrm>
            <a:off x="3776472" y="1645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Previsto: negativo</a:t>
            </a:r>
            <a:endParaRPr lang="en-US" sz="1400" dirty="0"/>
          </a:p>
        </p:txBody>
      </p:sp>
      <p:sp>
        <p:nvSpPr>
          <p:cNvPr id="6" name="texto-380"/>
          <p:cNvSpPr txBox="1"/>
          <p:nvPr/>
        </p:nvSpPr>
        <p:spPr>
          <a:xfrm>
            <a:off x="548640" y="205740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Real: positivo</a:t>
            </a:r>
            <a:endParaRPr lang="en-US" sz="1400" dirty="0"/>
          </a:p>
        </p:txBody>
      </p:sp>
      <p:sp>
        <p:nvSpPr>
          <p:cNvPr id="7" name="texto-381"/>
          <p:cNvSpPr txBox="1"/>
          <p:nvPr/>
        </p:nvSpPr>
        <p:spPr>
          <a:xfrm>
            <a:off x="548640" y="3227832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Real: negativo</a:t>
            </a:r>
            <a:endParaRPr lang="en-US" sz="1400" dirty="0"/>
          </a:p>
        </p:txBody>
      </p:sp>
      <p:sp>
        <p:nvSpPr>
          <p:cNvPr id="8" name="matriz-VP-382"/>
          <p:cNvSpPr/>
          <p:nvPr/>
        </p:nvSpPr>
        <p:spPr>
          <a:xfrm>
            <a:off x="1874520" y="2057400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E2F3EC"/>
          </a:solidFill>
          <a:ln w="12700">
            <a:solidFill>
              <a:srgbClr val="E2F3EC"/>
            </a:solidFill>
            <a:prstDash val="solid"/>
          </a:ln>
        </p:spPr>
      </p:sp>
      <p:sp>
        <p:nvSpPr>
          <p:cNvPr id="9" name="texto-383"/>
          <p:cNvSpPr txBox="1"/>
          <p:nvPr/>
        </p:nvSpPr>
        <p:spPr>
          <a:xfrm>
            <a:off x="1874520" y="2057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verdadeiro positivo</a:t>
            </a:r>
            <a:endParaRPr lang="en-US" sz="1600" dirty="0"/>
          </a:p>
        </p:txBody>
      </p:sp>
      <p:sp>
        <p:nvSpPr>
          <p:cNvPr id="10" name="matriz-FN-384"/>
          <p:cNvSpPr/>
          <p:nvPr/>
        </p:nvSpPr>
        <p:spPr>
          <a:xfrm>
            <a:off x="3776472" y="2057400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FDE7DC"/>
          </a:solidFill>
          <a:ln w="12700">
            <a:solidFill>
              <a:srgbClr val="FDE7DC"/>
            </a:solidFill>
            <a:prstDash val="solid"/>
          </a:ln>
        </p:spPr>
      </p:sp>
      <p:sp>
        <p:nvSpPr>
          <p:cNvPr id="11" name="texto-385"/>
          <p:cNvSpPr txBox="1"/>
          <p:nvPr/>
        </p:nvSpPr>
        <p:spPr>
          <a:xfrm>
            <a:off x="3776472" y="2057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FN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falso negativo</a:t>
            </a:r>
            <a:endParaRPr lang="en-US" sz="1600" dirty="0"/>
          </a:p>
        </p:txBody>
      </p:sp>
      <p:sp>
        <p:nvSpPr>
          <p:cNvPr id="12" name="matriz-FP-386"/>
          <p:cNvSpPr/>
          <p:nvPr/>
        </p:nvSpPr>
        <p:spPr>
          <a:xfrm>
            <a:off x="1874520" y="3227832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FDE7DC"/>
          </a:solidFill>
          <a:ln w="12700">
            <a:solidFill>
              <a:srgbClr val="FDE7DC"/>
            </a:solidFill>
            <a:prstDash val="solid"/>
          </a:ln>
        </p:spPr>
      </p:sp>
      <p:sp>
        <p:nvSpPr>
          <p:cNvPr id="13" name="texto-387"/>
          <p:cNvSpPr txBox="1"/>
          <p:nvPr/>
        </p:nvSpPr>
        <p:spPr>
          <a:xfrm>
            <a:off x="1874520" y="3227832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falso positivo</a:t>
            </a:r>
            <a:endParaRPr lang="en-US" sz="1600" dirty="0"/>
          </a:p>
        </p:txBody>
      </p:sp>
      <p:sp>
        <p:nvSpPr>
          <p:cNvPr id="14" name="matriz-VN-388"/>
          <p:cNvSpPr/>
          <p:nvPr/>
        </p:nvSpPr>
        <p:spPr>
          <a:xfrm>
            <a:off x="3776472" y="3227832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E2F3EC"/>
          </a:solidFill>
          <a:ln w="12700">
            <a:solidFill>
              <a:srgbClr val="E2F3EC"/>
            </a:solidFill>
            <a:prstDash val="solid"/>
          </a:ln>
        </p:spPr>
      </p:sp>
      <p:sp>
        <p:nvSpPr>
          <p:cNvPr id="15" name="texto-389"/>
          <p:cNvSpPr txBox="1"/>
          <p:nvPr/>
        </p:nvSpPr>
        <p:spPr>
          <a:xfrm>
            <a:off x="3776472" y="3227832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VN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verdadeiro negativo</a:t>
            </a:r>
            <a:endParaRPr lang="en-US" sz="1600" dirty="0"/>
          </a:p>
        </p:txBody>
      </p:sp>
      <p:sp>
        <p:nvSpPr>
          <p:cNvPr id="16" name="texto-390"/>
          <p:cNvSpPr txBox="1"/>
          <p:nvPr/>
        </p:nvSpPr>
        <p:spPr>
          <a:xfrm>
            <a:off x="617220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Acurácia</a:t>
            </a:r>
            <a:endParaRPr lang="en-US" sz="1700" dirty="0"/>
          </a:p>
        </p:txBody>
      </p:sp>
      <p:sp>
        <p:nvSpPr>
          <p:cNvPr id="17" name="texto-391"/>
          <p:cNvSpPr txBox="1"/>
          <p:nvPr/>
        </p:nvSpPr>
        <p:spPr>
          <a:xfrm>
            <a:off x="8595360" y="1600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(VP + VN) / N</a:t>
            </a:r>
            <a:endParaRPr lang="en-US" sz="1700" dirty="0"/>
          </a:p>
        </p:txBody>
      </p:sp>
      <p:sp>
        <p:nvSpPr>
          <p:cNvPr id="18" name="texto-392"/>
          <p:cNvSpPr txBox="1"/>
          <p:nvPr/>
        </p:nvSpPr>
        <p:spPr>
          <a:xfrm>
            <a:off x="6172200" y="19659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Que fração das previsões está certa?</a:t>
            </a:r>
            <a:endParaRPr lang="en-US" sz="1400" dirty="0"/>
          </a:p>
        </p:txBody>
      </p:sp>
      <p:sp>
        <p:nvSpPr>
          <p:cNvPr id="19" name="texto-393"/>
          <p:cNvSpPr txBox="1"/>
          <p:nvPr/>
        </p:nvSpPr>
        <p:spPr>
          <a:xfrm>
            <a:off x="6172200" y="24048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Precisão (pureza)</a:t>
            </a:r>
            <a:endParaRPr lang="en-US" sz="1700" dirty="0"/>
          </a:p>
        </p:txBody>
      </p:sp>
      <p:sp>
        <p:nvSpPr>
          <p:cNvPr id="20" name="texto-394"/>
          <p:cNvSpPr txBox="1"/>
          <p:nvPr/>
        </p:nvSpPr>
        <p:spPr>
          <a:xfrm>
            <a:off x="8595360" y="24048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 / (VP + FP)</a:t>
            </a:r>
            <a:endParaRPr lang="en-US" sz="1700" dirty="0"/>
          </a:p>
        </p:txBody>
      </p:sp>
      <p:sp>
        <p:nvSpPr>
          <p:cNvPr id="21" name="texto-395"/>
          <p:cNvSpPr txBox="1"/>
          <p:nvPr/>
        </p:nvSpPr>
        <p:spPr>
          <a:xfrm>
            <a:off x="6172200" y="277063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Dos que o modelo chamou de positivos, quantos são?</a:t>
            </a:r>
            <a:endParaRPr lang="en-US" sz="1400" dirty="0"/>
          </a:p>
        </p:txBody>
      </p:sp>
      <p:sp>
        <p:nvSpPr>
          <p:cNvPr id="22" name="texto-396"/>
          <p:cNvSpPr txBox="1"/>
          <p:nvPr/>
        </p:nvSpPr>
        <p:spPr>
          <a:xfrm>
            <a:off x="6172200" y="32095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Revocação (eficiência)</a:t>
            </a:r>
            <a:endParaRPr lang="en-US" sz="1700" dirty="0"/>
          </a:p>
        </p:txBody>
      </p:sp>
      <p:sp>
        <p:nvSpPr>
          <p:cNvPr id="23" name="texto-397"/>
          <p:cNvSpPr txBox="1"/>
          <p:nvPr/>
        </p:nvSpPr>
        <p:spPr>
          <a:xfrm>
            <a:off x="8595360" y="32095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 / (VP + FN)</a:t>
            </a:r>
            <a:endParaRPr lang="en-US" sz="1700" dirty="0"/>
          </a:p>
        </p:txBody>
      </p:sp>
      <p:sp>
        <p:nvSpPr>
          <p:cNvPr id="24" name="texto-398"/>
          <p:cNvSpPr txBox="1"/>
          <p:nvPr/>
        </p:nvSpPr>
        <p:spPr>
          <a:xfrm>
            <a:off x="6172200" y="3575304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Dos positivos reais, quantos o modelo encontrou?</a:t>
            </a:r>
            <a:endParaRPr lang="en-US" sz="1400" dirty="0"/>
          </a:p>
        </p:txBody>
      </p:sp>
      <p:sp>
        <p:nvSpPr>
          <p:cNvPr id="25" name="texto-399"/>
          <p:cNvSpPr txBox="1"/>
          <p:nvPr/>
        </p:nvSpPr>
        <p:spPr>
          <a:xfrm>
            <a:off x="6172200" y="40142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F1</a:t>
            </a:r>
            <a:endParaRPr lang="en-US" sz="1700" dirty="0"/>
          </a:p>
        </p:txBody>
      </p:sp>
      <p:sp>
        <p:nvSpPr>
          <p:cNvPr id="26" name="texto-400"/>
          <p:cNvSpPr txBox="1"/>
          <p:nvPr/>
        </p:nvSpPr>
        <p:spPr>
          <a:xfrm>
            <a:off x="8595360" y="401421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P · R / (P + R)</a:t>
            </a:r>
            <a:endParaRPr lang="en-US" sz="1700" dirty="0"/>
          </a:p>
        </p:txBody>
      </p:sp>
      <p:sp>
        <p:nvSpPr>
          <p:cNvPr id="27" name="texto-401"/>
          <p:cNvSpPr txBox="1"/>
          <p:nvPr/>
        </p:nvSpPr>
        <p:spPr>
          <a:xfrm>
            <a:off x="6172200" y="43799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Média harmônica de precisão e revocação</a:t>
            </a:r>
            <a:endParaRPr lang="en-US" sz="1400" dirty="0"/>
          </a:p>
        </p:txBody>
      </p:sp>
      <p:sp>
        <p:nvSpPr>
          <p:cNvPr id="28" name="cartao-402"/>
          <p:cNvSpPr/>
          <p:nvPr/>
        </p:nvSpPr>
        <p:spPr>
          <a:xfrm>
            <a:off x="548640" y="4846320"/>
            <a:ext cx="11091672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circulo-403"/>
          <p:cNvSpPr/>
          <p:nvPr/>
        </p:nvSpPr>
        <p:spPr>
          <a:xfrm>
            <a:off x="822960" y="5074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cone-FaTriangleExclamation-40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5234940"/>
            <a:ext cx="320040" cy="320040"/>
          </a:xfrm>
          <a:prstGeom prst="rect">
            <a:avLst/>
          </a:prstGeom>
        </p:spPr>
      </p:pic>
      <p:sp>
        <p:nvSpPr>
          <p:cNvPr id="31" name="texto-405"/>
          <p:cNvSpPr txBox="1"/>
          <p:nvPr/>
        </p:nvSpPr>
        <p:spPr>
          <a:xfrm>
            <a:off x="1691640" y="484632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Sinal raro: 1 evento em 10</a:t>
            </a:r>
            <a:r>
              <a:rPr lang="en-US" sz="1800" baseline="30000" dirty="0">
                <a:solidFill>
                  <a:schemeClr val="bg1"/>
                </a:solidFill>
              </a:rPr>
              <a:t>6</a:t>
            </a:r>
            <a:r>
              <a:rPr lang="en-US" sz="1800" dirty="0">
                <a:solidFill>
                  <a:schemeClr val="bg1"/>
                </a:solidFill>
              </a:rPr>
              <a:t>. Um classificador que sempre responde “fundo” acerta 99,9999% das vezes e é inútil. Por isso olhamos precisão e revocação.</a:t>
            </a:r>
            <a:endParaRPr lang="en-US" sz="18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MÉTRICAS E PRÉ-PROCESSAMENTO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Padronização dos atributos</a:t>
            </a:r>
            <a:endParaRPr lang="en-US" sz="3400" dirty="0"/>
          </a:p>
        </p:txBody>
      </p:sp>
      <p:sp>
        <p:nvSpPr>
          <p:cNvPr id="4" name="texto-406"/>
          <p:cNvSpPr txBox="1"/>
          <p:nvPr/>
        </p:nvSpPr>
        <p:spPr>
          <a:xfrm>
            <a:off x="548640" y="1554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Energia em eV e ângulo em radianos têm escalas muito diferentes: sem padronizar, o atributo de maior escala domina distâncias e gradientes.</a:t>
            </a:r>
            <a:endParaRPr lang="en-US" sz="1800" dirty="0"/>
          </a:p>
        </p:txBody>
      </p:sp>
      <p:sp>
        <p:nvSpPr>
          <p:cNvPr id="5" name="cartao-407"/>
          <p:cNvSpPr/>
          <p:nvPr/>
        </p:nvSpPr>
        <p:spPr>
          <a:xfrm>
            <a:off x="548640" y="2514600"/>
            <a:ext cx="548640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equacao-408" descr="Padronização: x linha igual a x menos mu, dividido por 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788920"/>
            <a:ext cx="1731569" cy="732587"/>
          </a:xfrm>
          <a:prstGeom prst="rect">
            <a:avLst/>
          </a:prstGeom>
        </p:spPr>
      </p:pic>
      <p:sp>
        <p:nvSpPr>
          <p:cNvPr id="7" name="texto-409"/>
          <p:cNvSpPr txBox="1"/>
          <p:nvPr/>
        </p:nvSpPr>
        <p:spPr>
          <a:xfrm>
            <a:off x="822960" y="374904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μ e s: média e desvio padrão do atributo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Calculados apenas com os dados de treino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scikit-learn: StandardScaler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Alternativa: normalização min-max para [0, 1]</a:t>
            </a:r>
            <a:endParaRPr lang="en-US" sz="1600" dirty="0"/>
          </a:p>
        </p:txBody>
      </p:sp>
      <p:sp>
        <p:nvSpPr>
          <p:cNvPr id="8" name="cartao-410"/>
          <p:cNvSpPr/>
          <p:nvPr/>
        </p:nvSpPr>
        <p:spPr>
          <a:xfrm>
            <a:off x="6309360" y="2514600"/>
            <a:ext cx="5330952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circulo-411"/>
          <p:cNvSpPr/>
          <p:nvPr/>
        </p:nvSpPr>
        <p:spPr>
          <a:xfrm>
            <a:off x="6583680" y="278892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cone-FaCheck-4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0" y="2948940"/>
            <a:ext cx="320040" cy="320040"/>
          </a:xfrm>
          <a:prstGeom prst="rect">
            <a:avLst/>
          </a:prstGeom>
        </p:spPr>
      </p:pic>
      <p:sp>
        <p:nvSpPr>
          <p:cNvPr id="11" name="texto-413"/>
          <p:cNvSpPr txBox="1"/>
          <p:nvPr/>
        </p:nvSpPr>
        <p:spPr>
          <a:xfrm>
            <a:off x="7406640" y="2788920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Precisam</a:t>
            </a:r>
            <a:endParaRPr lang="en-US" sz="2000" dirty="0"/>
          </a:p>
        </p:txBody>
      </p:sp>
      <p:sp>
        <p:nvSpPr>
          <p:cNvPr id="12" name="texto-414"/>
          <p:cNvSpPr txBox="1"/>
          <p:nvPr/>
        </p:nvSpPr>
        <p:spPr>
          <a:xfrm>
            <a:off x="7406640" y="3429000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Métodos baseados em distância (K-means, SVM) e em gradiente (redes neurais)</a:t>
            </a:r>
            <a:endParaRPr lang="en-US" sz="1500" dirty="0"/>
          </a:p>
        </p:txBody>
      </p:sp>
      <p:sp>
        <p:nvSpPr>
          <p:cNvPr id="13" name="cartao-415"/>
          <p:cNvSpPr/>
          <p:nvPr/>
        </p:nvSpPr>
        <p:spPr>
          <a:xfrm>
            <a:off x="6309360" y="4297680"/>
            <a:ext cx="5330952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circulo-416"/>
          <p:cNvSpPr/>
          <p:nvPr/>
        </p:nvSpPr>
        <p:spPr>
          <a:xfrm>
            <a:off x="6583680" y="457200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icone-FaXmark-41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700" y="4732020"/>
            <a:ext cx="320040" cy="320040"/>
          </a:xfrm>
          <a:prstGeom prst="rect">
            <a:avLst/>
          </a:prstGeom>
        </p:spPr>
      </p:pic>
      <p:sp>
        <p:nvSpPr>
          <p:cNvPr id="16" name="texto-418"/>
          <p:cNvSpPr txBox="1"/>
          <p:nvPr/>
        </p:nvSpPr>
        <p:spPr>
          <a:xfrm>
            <a:off x="7406640" y="4572000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Não precisam</a:t>
            </a:r>
            <a:endParaRPr lang="en-US" sz="2000" dirty="0"/>
          </a:p>
        </p:txBody>
      </p:sp>
      <p:sp>
        <p:nvSpPr>
          <p:cNvPr id="17" name="texto-419"/>
          <p:cNvSpPr txBox="1"/>
          <p:nvPr/>
        </p:nvSpPr>
        <p:spPr>
          <a:xfrm>
            <a:off x="7406640" y="5212080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Árvores de decisão e random forests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FLUXO DE TRABALHO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Etapas de um projeto de aprendizado de máquina</a:t>
            </a:r>
            <a:endParaRPr lang="en-US" sz="3400" dirty="0"/>
          </a:p>
        </p:txBody>
      </p:sp>
      <p:sp>
        <p:nvSpPr>
          <p:cNvPr id="4" name="cartao-420"/>
          <p:cNvSpPr/>
          <p:nvPr/>
        </p:nvSpPr>
        <p:spPr>
          <a:xfrm>
            <a:off x="548640" y="169164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numero-421"/>
          <p:cNvSpPr/>
          <p:nvPr/>
        </p:nvSpPr>
        <p:spPr>
          <a:xfrm>
            <a:off x="731520" y="187452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o-422"/>
          <p:cNvSpPr txBox="1"/>
          <p:nvPr/>
        </p:nvSpPr>
        <p:spPr>
          <a:xfrm>
            <a:off x="73152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o-423"/>
          <p:cNvSpPr txBox="1"/>
          <p:nvPr/>
        </p:nvSpPr>
        <p:spPr>
          <a:xfrm>
            <a:off x="1371600" y="18288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Definir o problema</a:t>
            </a:r>
            <a:endParaRPr lang="en-US" sz="1600" dirty="0"/>
          </a:p>
        </p:txBody>
      </p:sp>
      <p:sp>
        <p:nvSpPr>
          <p:cNvPr id="8" name="texto-424"/>
          <p:cNvSpPr txBox="1"/>
          <p:nvPr/>
        </p:nvSpPr>
        <p:spPr>
          <a:xfrm>
            <a:off x="731520" y="25603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Tarefa, rótulos e métrica</a:t>
            </a:r>
            <a:endParaRPr lang="en-US" sz="1400" dirty="0"/>
          </a:p>
        </p:txBody>
      </p:sp>
      <p:sp>
        <p:nvSpPr>
          <p:cNvPr id="9" name="seta-425"/>
          <p:cNvSpPr/>
          <p:nvPr/>
        </p:nvSpPr>
        <p:spPr>
          <a:xfrm>
            <a:off x="3136392" y="2468880"/>
            <a:ext cx="219456" cy="0"/>
          </a:xfrm>
          <a:prstGeom prst="line">
            <a:avLst/>
          </a:prstGeom>
          <a:noFill/>
          <a:ln w="254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10" name="cartao-426"/>
          <p:cNvSpPr/>
          <p:nvPr/>
        </p:nvSpPr>
        <p:spPr>
          <a:xfrm>
            <a:off x="3383280" y="169164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numero-427"/>
          <p:cNvSpPr/>
          <p:nvPr/>
        </p:nvSpPr>
        <p:spPr>
          <a:xfrm>
            <a:off x="3566160" y="187452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o-428"/>
          <p:cNvSpPr txBox="1"/>
          <p:nvPr/>
        </p:nvSpPr>
        <p:spPr>
          <a:xfrm>
            <a:off x="35661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o-429"/>
          <p:cNvSpPr txBox="1"/>
          <p:nvPr/>
        </p:nvSpPr>
        <p:spPr>
          <a:xfrm>
            <a:off x="4206240" y="18288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Obter e explorar os dados</a:t>
            </a:r>
            <a:endParaRPr lang="en-US" sz="1600" dirty="0"/>
          </a:p>
        </p:txBody>
      </p:sp>
      <p:sp>
        <p:nvSpPr>
          <p:cNvPr id="14" name="texto-430"/>
          <p:cNvSpPr txBox="1"/>
          <p:nvPr/>
        </p:nvSpPr>
        <p:spPr>
          <a:xfrm>
            <a:off x="3566160" y="25603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Aula 2: Pandas</a:t>
            </a:r>
            <a:endParaRPr lang="en-US" sz="1400" dirty="0"/>
          </a:p>
        </p:txBody>
      </p:sp>
      <p:sp>
        <p:nvSpPr>
          <p:cNvPr id="15" name="seta-431"/>
          <p:cNvSpPr/>
          <p:nvPr/>
        </p:nvSpPr>
        <p:spPr>
          <a:xfrm>
            <a:off x="5971032" y="2468880"/>
            <a:ext cx="219456" cy="0"/>
          </a:xfrm>
          <a:prstGeom prst="line">
            <a:avLst/>
          </a:prstGeom>
          <a:noFill/>
          <a:ln w="254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16" name="cartao-432"/>
          <p:cNvSpPr/>
          <p:nvPr/>
        </p:nvSpPr>
        <p:spPr>
          <a:xfrm>
            <a:off x="6217920" y="169164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DE7DC"/>
          </a:solidFill>
          <a:ln w="12700">
            <a:solidFill>
              <a:srgbClr val="FDE7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numero-433"/>
          <p:cNvSpPr/>
          <p:nvPr/>
        </p:nvSpPr>
        <p:spPr>
          <a:xfrm>
            <a:off x="6400800" y="1874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o-434"/>
          <p:cNvSpPr txBox="1"/>
          <p:nvPr/>
        </p:nvSpPr>
        <p:spPr>
          <a:xfrm>
            <a:off x="64008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o-435"/>
          <p:cNvSpPr txBox="1"/>
          <p:nvPr/>
        </p:nvSpPr>
        <p:spPr>
          <a:xfrm>
            <a:off x="7040880" y="18288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Pré-processar</a:t>
            </a:r>
            <a:endParaRPr lang="en-US" sz="1600" dirty="0"/>
          </a:p>
        </p:txBody>
      </p:sp>
      <p:sp>
        <p:nvSpPr>
          <p:cNvPr id="20" name="texto-436"/>
          <p:cNvSpPr txBox="1"/>
          <p:nvPr/>
        </p:nvSpPr>
        <p:spPr>
          <a:xfrm>
            <a:off x="6400800" y="25603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Limpar, padronizar, criar atributos</a:t>
            </a:r>
            <a:endParaRPr lang="en-US" sz="1400" dirty="0"/>
          </a:p>
        </p:txBody>
      </p:sp>
      <p:sp>
        <p:nvSpPr>
          <p:cNvPr id="21" name="seta-437"/>
          <p:cNvSpPr/>
          <p:nvPr/>
        </p:nvSpPr>
        <p:spPr>
          <a:xfrm>
            <a:off x="8805672" y="2468880"/>
            <a:ext cx="219456" cy="0"/>
          </a:xfrm>
          <a:prstGeom prst="line">
            <a:avLst/>
          </a:prstGeom>
          <a:noFill/>
          <a:ln w="254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22" name="cartao-438"/>
          <p:cNvSpPr/>
          <p:nvPr/>
        </p:nvSpPr>
        <p:spPr>
          <a:xfrm>
            <a:off x="9052560" y="169164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DE7DC"/>
          </a:solidFill>
          <a:ln w="12700">
            <a:solidFill>
              <a:srgbClr val="FDE7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numero-439"/>
          <p:cNvSpPr/>
          <p:nvPr/>
        </p:nvSpPr>
        <p:spPr>
          <a:xfrm>
            <a:off x="9235440" y="1874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o-440"/>
          <p:cNvSpPr txBox="1"/>
          <p:nvPr/>
        </p:nvSpPr>
        <p:spPr>
          <a:xfrm>
            <a:off x="92354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o-441"/>
          <p:cNvSpPr txBox="1"/>
          <p:nvPr/>
        </p:nvSpPr>
        <p:spPr>
          <a:xfrm>
            <a:off x="9875520" y="18288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Separar o teste</a:t>
            </a:r>
            <a:endParaRPr lang="en-US" sz="1600" dirty="0"/>
          </a:p>
        </p:txBody>
      </p:sp>
      <p:sp>
        <p:nvSpPr>
          <p:cNvPr id="26" name="texto-442"/>
          <p:cNvSpPr txBox="1"/>
          <p:nvPr/>
        </p:nvSpPr>
        <p:spPr>
          <a:xfrm>
            <a:off x="9235440" y="25603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 não olhar para ele</a:t>
            </a:r>
            <a:endParaRPr lang="en-US" sz="1400" dirty="0"/>
          </a:p>
        </p:txBody>
      </p:sp>
      <p:sp>
        <p:nvSpPr>
          <p:cNvPr id="27" name="cartao-443"/>
          <p:cNvSpPr/>
          <p:nvPr/>
        </p:nvSpPr>
        <p:spPr>
          <a:xfrm>
            <a:off x="548640" y="352044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DE7DC"/>
          </a:solidFill>
          <a:ln w="12700">
            <a:solidFill>
              <a:srgbClr val="FDE7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numero-444"/>
          <p:cNvSpPr/>
          <p:nvPr/>
        </p:nvSpPr>
        <p:spPr>
          <a:xfrm>
            <a:off x="731520" y="37033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o-445"/>
          <p:cNvSpPr txBox="1"/>
          <p:nvPr/>
        </p:nvSpPr>
        <p:spPr>
          <a:xfrm>
            <a:off x="73152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o-446"/>
          <p:cNvSpPr txBox="1"/>
          <p:nvPr/>
        </p:nvSpPr>
        <p:spPr>
          <a:xfrm>
            <a:off x="1371600" y="36576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Treinar modelos</a:t>
            </a:r>
            <a:endParaRPr lang="en-US" sz="1600" dirty="0"/>
          </a:p>
        </p:txBody>
      </p:sp>
      <p:sp>
        <p:nvSpPr>
          <p:cNvPr id="31" name="texto-447"/>
          <p:cNvSpPr txBox="1"/>
          <p:nvPr/>
        </p:nvSpPr>
        <p:spPr>
          <a:xfrm>
            <a:off x="731520" y="43891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Vários candidatos</a:t>
            </a:r>
            <a:endParaRPr lang="en-US" sz="1400" dirty="0"/>
          </a:p>
        </p:txBody>
      </p:sp>
      <p:sp>
        <p:nvSpPr>
          <p:cNvPr id="32" name="seta-448"/>
          <p:cNvSpPr/>
          <p:nvPr/>
        </p:nvSpPr>
        <p:spPr>
          <a:xfrm>
            <a:off x="3136392" y="4297680"/>
            <a:ext cx="219456" cy="0"/>
          </a:xfrm>
          <a:prstGeom prst="line">
            <a:avLst/>
          </a:prstGeom>
          <a:noFill/>
          <a:ln w="254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33" name="cartao-449"/>
          <p:cNvSpPr/>
          <p:nvPr/>
        </p:nvSpPr>
        <p:spPr>
          <a:xfrm>
            <a:off x="3383280" y="352044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DE7DC"/>
          </a:solidFill>
          <a:ln w="12700">
            <a:solidFill>
              <a:srgbClr val="FDE7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numero-450"/>
          <p:cNvSpPr/>
          <p:nvPr/>
        </p:nvSpPr>
        <p:spPr>
          <a:xfrm>
            <a:off x="3566160" y="37033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o-451"/>
          <p:cNvSpPr txBox="1"/>
          <p:nvPr/>
        </p:nvSpPr>
        <p:spPr>
          <a:xfrm>
            <a:off x="356616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o-452"/>
          <p:cNvSpPr txBox="1"/>
          <p:nvPr/>
        </p:nvSpPr>
        <p:spPr>
          <a:xfrm>
            <a:off x="4206240" y="36576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Ajustar hiperparâmetros</a:t>
            </a:r>
            <a:endParaRPr lang="en-US" sz="1600" dirty="0"/>
          </a:p>
        </p:txBody>
      </p:sp>
      <p:sp>
        <p:nvSpPr>
          <p:cNvPr id="37" name="texto-453"/>
          <p:cNvSpPr txBox="1"/>
          <p:nvPr/>
        </p:nvSpPr>
        <p:spPr>
          <a:xfrm>
            <a:off x="3566160" y="43891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Validação cruzada</a:t>
            </a:r>
            <a:endParaRPr lang="en-US" sz="1400" dirty="0"/>
          </a:p>
        </p:txBody>
      </p:sp>
      <p:sp>
        <p:nvSpPr>
          <p:cNvPr id="38" name="seta-454"/>
          <p:cNvSpPr/>
          <p:nvPr/>
        </p:nvSpPr>
        <p:spPr>
          <a:xfrm>
            <a:off x="5971032" y="4297680"/>
            <a:ext cx="219456" cy="0"/>
          </a:xfrm>
          <a:prstGeom prst="line">
            <a:avLst/>
          </a:prstGeom>
          <a:noFill/>
          <a:ln w="254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39" name="cartao-455"/>
          <p:cNvSpPr/>
          <p:nvPr/>
        </p:nvSpPr>
        <p:spPr>
          <a:xfrm>
            <a:off x="6217920" y="352044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numero-456"/>
          <p:cNvSpPr/>
          <p:nvPr/>
        </p:nvSpPr>
        <p:spPr>
          <a:xfrm>
            <a:off x="6400800" y="370332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1" name="texto-457"/>
          <p:cNvSpPr txBox="1"/>
          <p:nvPr/>
        </p:nvSpPr>
        <p:spPr>
          <a:xfrm>
            <a:off x="640080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42" name="texto-458"/>
          <p:cNvSpPr txBox="1"/>
          <p:nvPr/>
        </p:nvSpPr>
        <p:spPr>
          <a:xfrm>
            <a:off x="7040880" y="36576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Avaliar no teste</a:t>
            </a:r>
            <a:endParaRPr lang="en-US" sz="1600" dirty="0"/>
          </a:p>
        </p:txBody>
      </p:sp>
      <p:sp>
        <p:nvSpPr>
          <p:cNvPr id="43" name="texto-459"/>
          <p:cNvSpPr txBox="1"/>
          <p:nvPr/>
        </p:nvSpPr>
        <p:spPr>
          <a:xfrm>
            <a:off x="6400800" y="43891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Uma única vez</a:t>
            </a:r>
            <a:endParaRPr lang="en-US" sz="1400" dirty="0"/>
          </a:p>
        </p:txBody>
      </p:sp>
      <p:sp>
        <p:nvSpPr>
          <p:cNvPr id="44" name="seta-460"/>
          <p:cNvSpPr/>
          <p:nvPr/>
        </p:nvSpPr>
        <p:spPr>
          <a:xfrm>
            <a:off x="8805672" y="4297680"/>
            <a:ext cx="219456" cy="0"/>
          </a:xfrm>
          <a:prstGeom prst="line">
            <a:avLst/>
          </a:prstGeom>
          <a:noFill/>
          <a:ln w="254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45" name="cartao-461"/>
          <p:cNvSpPr/>
          <p:nvPr/>
        </p:nvSpPr>
        <p:spPr>
          <a:xfrm>
            <a:off x="9052560" y="352044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numero-462"/>
          <p:cNvSpPr/>
          <p:nvPr/>
        </p:nvSpPr>
        <p:spPr>
          <a:xfrm>
            <a:off x="9235440" y="370332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7" name="texto-463"/>
          <p:cNvSpPr txBox="1"/>
          <p:nvPr/>
        </p:nvSpPr>
        <p:spPr>
          <a:xfrm>
            <a:off x="92354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48" name="texto-464"/>
          <p:cNvSpPr txBox="1"/>
          <p:nvPr/>
        </p:nvSpPr>
        <p:spPr>
          <a:xfrm>
            <a:off x="9875520" y="36576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Interpretar e comunicar</a:t>
            </a:r>
            <a:endParaRPr lang="en-US" sz="1600" dirty="0"/>
          </a:p>
        </p:txBody>
      </p:sp>
      <p:sp>
        <p:nvSpPr>
          <p:cNvPr id="49" name="texto-465"/>
          <p:cNvSpPr txBox="1"/>
          <p:nvPr/>
        </p:nvSpPr>
        <p:spPr>
          <a:xfrm>
            <a:off x="9235440" y="43891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Faz sentido físico? Quais as limitações?</a:t>
            </a:r>
            <a:endParaRPr lang="en-US" sz="1400" dirty="0"/>
          </a:p>
        </p:txBody>
      </p:sp>
      <p:sp>
        <p:nvSpPr>
          <p:cNvPr id="50" name="circulo-466"/>
          <p:cNvSpPr/>
          <p:nvPr/>
        </p:nvSpPr>
        <p:spPr>
          <a:xfrm>
            <a:off x="548640" y="54406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1" name="icone-FaRotate-46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577840"/>
            <a:ext cx="274320" cy="274320"/>
          </a:xfrm>
          <a:prstGeom prst="rect">
            <a:avLst/>
          </a:prstGeom>
        </p:spPr>
      </p:pic>
      <p:sp>
        <p:nvSpPr>
          <p:cNvPr id="52" name="texto-468"/>
          <p:cNvSpPr txBox="1"/>
          <p:nvPr/>
        </p:nvSpPr>
        <p:spPr>
          <a:xfrm>
            <a:off x="1280160" y="53949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As etapas 3 a 6 formam um ciclo</a:t>
            </a:r>
            <a:r>
              <a:rPr lang="en-US" sz="1600" dirty="0">
                <a:solidFill>
                  <a:schemeClr val="tx1"/>
                </a:solidFill>
              </a:rPr>
              <a:t> que se repete até o modelo ficar bom. Nenhum método é o melhor para todos os problemas: a validação é que escolhe.</a:t>
            </a:r>
            <a:endParaRPr lang="en-US" sz="1600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FLUXO DE TRABALHO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A interface do scikit-learn</a:t>
            </a:r>
            <a:endParaRPr lang="en-US" sz="3400" dirty="0"/>
          </a:p>
        </p:txBody>
      </p:sp>
      <p:sp>
        <p:nvSpPr>
          <p:cNvPr id="4" name="cartao-469"/>
          <p:cNvSpPr/>
          <p:nvPr/>
        </p:nvSpPr>
        <p:spPr>
          <a:xfrm>
            <a:off x="548640" y="1600200"/>
            <a:ext cx="704088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o-470"/>
          <p:cNvSpPr txBox="1"/>
          <p:nvPr/>
        </p:nvSpPr>
        <p:spPr>
          <a:xfrm>
            <a:off x="777240" y="1783080"/>
            <a:ext cx="6675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LinearRegression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= LinearRegression()      # escolher o modelo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modelo.fit(X_treino, y_treino)   # ajustar os parâmetros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y_prev = modelo.predict(X_novo)  # prever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modelo.score(X_teste, y_teste)   # R² ou acurácia</a:t>
            </a:r>
            <a:endParaRPr lang="en-US" sz="1400" dirty="0"/>
          </a:p>
        </p:txBody>
      </p:sp>
      <p:sp>
        <p:nvSpPr>
          <p:cNvPr id="6" name="texto-471"/>
          <p:cNvSpPr txBox="1"/>
          <p:nvPr/>
        </p:nvSpPr>
        <p:spPr>
          <a:xfrm>
            <a:off x="548640" y="434340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Pré-processamento e modelo num único objeto, sem vazamento:</a:t>
            </a:r>
            <a:endParaRPr lang="en-US" sz="1600" dirty="0"/>
          </a:p>
        </p:txBody>
      </p:sp>
      <p:sp>
        <p:nvSpPr>
          <p:cNvPr id="7" name="cartao-472"/>
          <p:cNvSpPr/>
          <p:nvPr/>
        </p:nvSpPr>
        <p:spPr>
          <a:xfrm>
            <a:off x="548640" y="4754880"/>
            <a:ext cx="70408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o-473"/>
          <p:cNvSpPr txBox="1"/>
          <p:nvPr/>
        </p:nvSpPr>
        <p:spPr>
          <a:xfrm>
            <a:off x="777240" y="493776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sklearn.pipeline import make_pipeline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= make_pipeline(StandardScaler(), LinearRegression())</a:t>
            </a:r>
            <a:endParaRPr lang="en-US" sz="1400" dirty="0"/>
          </a:p>
        </p:txBody>
      </p:sp>
      <p:graphicFrame>
        <p:nvGraphicFramePr>
          <p:cNvPr id="28" name="tabela-4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0" y="1600200"/>
          <a:ext cx="3730752" cy="2304288"/>
        </p:xfrm>
        <a:graphic>
          <a:graphicData uri="http://schemas.openxmlformats.org/drawingml/2006/table">
            <a:tbl>
              <a:tblPr/>
              <a:tblGrid>
                <a:gridCol w="1993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Biblioteca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Aulas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NumPy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Todas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Pandas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 em diante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Matplotlib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Todas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scikit-learn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 a 8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Keras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9 a 13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cartao-475"/>
          <p:cNvSpPr/>
          <p:nvPr/>
        </p:nvSpPr>
        <p:spPr>
          <a:xfrm>
            <a:off x="7909560" y="4206240"/>
            <a:ext cx="3730752" cy="17373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o-476"/>
          <p:cNvSpPr txBox="1"/>
          <p:nvPr/>
        </p:nvSpPr>
        <p:spPr>
          <a:xfrm>
            <a:off x="8138160" y="43434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Trocar LinearRegression() por RandomForestRegressor() ou SVR()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não muda mais nenhuma linha do código.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SÍNTESE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Cinco ideias para levar</a:t>
            </a:r>
            <a:endParaRPr lang="en-US" sz="3400" dirty="0"/>
          </a:p>
        </p:txBody>
      </p:sp>
      <p:sp>
        <p:nvSpPr>
          <p:cNvPr id="4" name="numero-477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o-478"/>
          <p:cNvSpPr txBox="1"/>
          <p:nvPr/>
        </p:nvSpPr>
        <p:spPr>
          <a:xfrm>
            <a:off x="54864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o-479"/>
          <p:cNvSpPr txBox="1"/>
          <p:nvPr/>
        </p:nvSpPr>
        <p:spPr>
          <a:xfrm>
            <a:off x="1371600" y="164592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Aprendizado de máquina é ajustar funções flexíveis a dados para prever bem dados novos.</a:t>
            </a:r>
            <a:endParaRPr lang="en-US" sz="2000" dirty="0"/>
          </a:p>
        </p:txBody>
      </p:sp>
      <p:sp>
        <p:nvSpPr>
          <p:cNvPr id="7" name="numero-480"/>
          <p:cNvSpPr/>
          <p:nvPr/>
        </p:nvSpPr>
        <p:spPr>
          <a:xfrm>
            <a:off x="548640" y="25603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o-481"/>
          <p:cNvSpPr txBox="1"/>
          <p:nvPr/>
        </p:nvSpPr>
        <p:spPr>
          <a:xfrm>
            <a:off x="548640" y="2560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o-482"/>
          <p:cNvSpPr txBox="1"/>
          <p:nvPr/>
        </p:nvSpPr>
        <p:spPr>
          <a:xfrm>
            <a:off x="1371600" y="251460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Supervisionado: pares (x, y). Não supervisionado: só x. Generativo: aprender p(x).</a:t>
            </a:r>
            <a:endParaRPr lang="en-US" sz="2000" dirty="0"/>
          </a:p>
        </p:txBody>
      </p:sp>
      <p:sp>
        <p:nvSpPr>
          <p:cNvPr id="10" name="numero-483"/>
          <p:cNvSpPr/>
          <p:nvPr/>
        </p:nvSpPr>
        <p:spPr>
          <a:xfrm>
            <a:off x="548640" y="342900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o-484"/>
          <p:cNvSpPr txBox="1"/>
          <p:nvPr/>
        </p:nvSpPr>
        <p:spPr>
          <a:xfrm>
            <a:off x="548640" y="3429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o-485"/>
          <p:cNvSpPr txBox="1"/>
          <p:nvPr/>
        </p:nvSpPr>
        <p:spPr>
          <a:xfrm>
            <a:off x="1371600" y="338328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Todo método é descrito por dados, modelo, perda e otimização.</a:t>
            </a:r>
            <a:endParaRPr lang="en-US" sz="2000" dirty="0"/>
          </a:p>
        </p:txBody>
      </p:sp>
      <p:sp>
        <p:nvSpPr>
          <p:cNvPr id="13" name="numero-486"/>
          <p:cNvSpPr/>
          <p:nvPr/>
        </p:nvSpPr>
        <p:spPr>
          <a:xfrm>
            <a:off x="548640" y="42976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o-487"/>
          <p:cNvSpPr txBox="1"/>
          <p:nvPr/>
        </p:nvSpPr>
        <p:spPr>
          <a:xfrm>
            <a:off x="54864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o-488"/>
          <p:cNvSpPr txBox="1"/>
          <p:nvPr/>
        </p:nvSpPr>
        <p:spPr>
          <a:xfrm>
            <a:off x="1371600" y="425196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O erro de treino engana: a generalização se mede em dados que o modelo não viu.</a:t>
            </a:r>
            <a:endParaRPr lang="en-US" sz="2000" dirty="0"/>
          </a:p>
        </p:txBody>
      </p:sp>
      <p:sp>
        <p:nvSpPr>
          <p:cNvPr id="16" name="numero-489"/>
          <p:cNvSpPr/>
          <p:nvPr/>
        </p:nvSpPr>
        <p:spPr>
          <a:xfrm>
            <a:off x="548640" y="51663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o-490"/>
          <p:cNvSpPr txBox="1"/>
          <p:nvPr/>
        </p:nvSpPr>
        <p:spPr>
          <a:xfrm>
            <a:off x="548640" y="5166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o-491"/>
          <p:cNvSpPr txBox="1"/>
          <p:nvPr/>
        </p:nvSpPr>
        <p:spPr>
          <a:xfrm>
            <a:off x="1371600" y="512064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O conjunto de teste é usado uma única vez, no final.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PRÁTICA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Trabalho prático: oscilador amortecido</a:t>
            </a:r>
            <a:endParaRPr lang="en-US" sz="3400" dirty="0"/>
          </a:p>
        </p:txBody>
      </p:sp>
      <p:sp>
        <p:nvSpPr>
          <p:cNvPr id="4" name="cartao-492"/>
          <p:cNvSpPr/>
          <p:nvPr/>
        </p:nvSpPr>
        <p:spPr>
          <a:xfrm>
            <a:off x="548640" y="1600200"/>
            <a:ext cx="4846320" cy="4389120"/>
          </a:xfrm>
          <a:prstGeom prst="roundRect">
            <a:avLst>
              <a:gd name="adj" fmla="val 1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equacao-493" descr="Oscilador amorteci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74520"/>
            <a:ext cx="2539746" cy="372618"/>
          </a:xfrm>
          <a:prstGeom prst="rect">
            <a:avLst/>
          </a:prstGeom>
        </p:spPr>
      </p:pic>
      <p:sp>
        <p:nvSpPr>
          <p:cNvPr id="6" name="texto-494"/>
          <p:cNvSpPr txBox="1"/>
          <p:nvPr/>
        </p:nvSpPr>
        <p:spPr>
          <a:xfrm>
            <a:off x="822960" y="2606040"/>
            <a:ext cx="4343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Medidas a intervalos regulares entre 0 e 3 s, com ruído σ = 0,1 m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Modelos: polinômios de grau 1 a 13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Semente: o seu número de matrícula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Entrega: notebook executado, com gráficos e respostas</a:t>
            </a:r>
            <a:endParaRPr lang="en-US" sz="1700" dirty="0"/>
          </a:p>
        </p:txBody>
      </p:sp>
      <p:sp>
        <p:nvSpPr>
          <p:cNvPr id="7" name="cartao-495"/>
          <p:cNvSpPr/>
          <p:nvPr/>
        </p:nvSpPr>
        <p:spPr>
          <a:xfrm>
            <a:off x="5669280" y="1600200"/>
            <a:ext cx="5971032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umero-496"/>
          <p:cNvSpPr/>
          <p:nvPr/>
        </p:nvSpPr>
        <p:spPr>
          <a:xfrm>
            <a:off x="5779008" y="167335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o-497"/>
          <p:cNvSpPr txBox="1"/>
          <p:nvPr/>
        </p:nvSpPr>
        <p:spPr>
          <a:xfrm>
            <a:off x="5779008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o-498"/>
          <p:cNvSpPr txBox="1"/>
          <p:nvPr/>
        </p:nvSpPr>
        <p:spPr>
          <a:xfrm>
            <a:off x="6400800" y="160020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Os dados</a:t>
            </a:r>
            <a:endParaRPr lang="en-US" sz="1700" dirty="0"/>
          </a:p>
        </p:txBody>
      </p:sp>
      <p:sp>
        <p:nvSpPr>
          <p:cNvPr id="11" name="texto-499"/>
          <p:cNvSpPr txBox="1"/>
          <p:nvPr/>
        </p:nvSpPr>
        <p:spPr>
          <a:xfrm>
            <a:off x="10332720" y="1600200"/>
            <a:ext cx="1143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chemeClr val="accent4"/>
                </a:solidFill>
              </a:rPr>
              <a:t>10 min</a:t>
            </a:r>
            <a:endParaRPr lang="en-US" sz="1500" dirty="0"/>
          </a:p>
        </p:txBody>
      </p:sp>
      <p:sp>
        <p:nvSpPr>
          <p:cNvPr id="12" name="cartao-500"/>
          <p:cNvSpPr/>
          <p:nvPr/>
        </p:nvSpPr>
        <p:spPr>
          <a:xfrm>
            <a:off x="5669280" y="2340864"/>
            <a:ext cx="5971032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umero-501"/>
          <p:cNvSpPr/>
          <p:nvPr/>
        </p:nvSpPr>
        <p:spPr>
          <a:xfrm>
            <a:off x="5779008" y="241401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o-502"/>
          <p:cNvSpPr txBox="1"/>
          <p:nvPr/>
        </p:nvSpPr>
        <p:spPr>
          <a:xfrm>
            <a:off x="5779008" y="2414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o-503"/>
          <p:cNvSpPr txBox="1"/>
          <p:nvPr/>
        </p:nvSpPr>
        <p:spPr>
          <a:xfrm>
            <a:off x="6400800" y="234086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Condicionamento numérico</a:t>
            </a:r>
            <a:endParaRPr lang="en-US" sz="1700" dirty="0"/>
          </a:p>
        </p:txBody>
      </p:sp>
      <p:sp>
        <p:nvSpPr>
          <p:cNvPr id="16" name="texto-504"/>
          <p:cNvSpPr txBox="1"/>
          <p:nvPr/>
        </p:nvSpPr>
        <p:spPr>
          <a:xfrm>
            <a:off x="10332720" y="2340864"/>
            <a:ext cx="1143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chemeClr val="accent4"/>
                </a:solidFill>
              </a:rPr>
              <a:t>15 min</a:t>
            </a:r>
            <a:endParaRPr lang="en-US" sz="1500" dirty="0"/>
          </a:p>
        </p:txBody>
      </p:sp>
      <p:sp>
        <p:nvSpPr>
          <p:cNvPr id="17" name="cartao-505"/>
          <p:cNvSpPr/>
          <p:nvPr/>
        </p:nvSpPr>
        <p:spPr>
          <a:xfrm>
            <a:off x="5669280" y="3081528"/>
            <a:ext cx="5971032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umero-506"/>
          <p:cNvSpPr/>
          <p:nvPr/>
        </p:nvSpPr>
        <p:spPr>
          <a:xfrm>
            <a:off x="5779008" y="31546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o-507"/>
          <p:cNvSpPr txBox="1"/>
          <p:nvPr/>
        </p:nvSpPr>
        <p:spPr>
          <a:xfrm>
            <a:off x="5779008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o-508"/>
          <p:cNvSpPr txBox="1"/>
          <p:nvPr/>
        </p:nvSpPr>
        <p:spPr>
          <a:xfrm>
            <a:off x="6400800" y="308152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Erro × complexidade</a:t>
            </a:r>
            <a:endParaRPr lang="en-US" sz="1700" dirty="0"/>
          </a:p>
        </p:txBody>
      </p:sp>
      <p:sp>
        <p:nvSpPr>
          <p:cNvPr id="21" name="texto-509"/>
          <p:cNvSpPr txBox="1"/>
          <p:nvPr/>
        </p:nvSpPr>
        <p:spPr>
          <a:xfrm>
            <a:off x="10332720" y="3081528"/>
            <a:ext cx="1143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chemeClr val="accent4"/>
                </a:solidFill>
              </a:rPr>
              <a:t>25 min</a:t>
            </a:r>
            <a:endParaRPr lang="en-US" sz="1500" dirty="0"/>
          </a:p>
        </p:txBody>
      </p:sp>
      <p:sp>
        <p:nvSpPr>
          <p:cNvPr id="22" name="cartao-510"/>
          <p:cNvSpPr/>
          <p:nvPr/>
        </p:nvSpPr>
        <p:spPr>
          <a:xfrm>
            <a:off x="5669280" y="3822192"/>
            <a:ext cx="5971032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numero-511"/>
          <p:cNvSpPr/>
          <p:nvPr/>
        </p:nvSpPr>
        <p:spPr>
          <a:xfrm>
            <a:off x="5779008" y="389534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o-512"/>
          <p:cNvSpPr txBox="1"/>
          <p:nvPr/>
        </p:nvSpPr>
        <p:spPr>
          <a:xfrm>
            <a:off x="5779008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o-513"/>
          <p:cNvSpPr txBox="1"/>
          <p:nvPr/>
        </p:nvSpPr>
        <p:spPr>
          <a:xfrm>
            <a:off x="6400800" y="382219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Validação cruzada</a:t>
            </a:r>
            <a:endParaRPr lang="en-US" sz="1700" dirty="0"/>
          </a:p>
        </p:txBody>
      </p:sp>
      <p:sp>
        <p:nvSpPr>
          <p:cNvPr id="26" name="texto-514"/>
          <p:cNvSpPr txBox="1"/>
          <p:nvPr/>
        </p:nvSpPr>
        <p:spPr>
          <a:xfrm>
            <a:off x="10332720" y="3822192"/>
            <a:ext cx="1143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chemeClr val="accent4"/>
                </a:solidFill>
              </a:rPr>
              <a:t>25 min</a:t>
            </a:r>
            <a:endParaRPr lang="en-US" sz="1500" dirty="0"/>
          </a:p>
        </p:txBody>
      </p:sp>
      <p:sp>
        <p:nvSpPr>
          <p:cNvPr id="27" name="cartao-515"/>
          <p:cNvSpPr/>
          <p:nvPr/>
        </p:nvSpPr>
        <p:spPr>
          <a:xfrm>
            <a:off x="5669280" y="4562856"/>
            <a:ext cx="5971032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numero-516"/>
          <p:cNvSpPr/>
          <p:nvPr/>
        </p:nvSpPr>
        <p:spPr>
          <a:xfrm>
            <a:off x="5779008" y="463600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o-517"/>
          <p:cNvSpPr txBox="1"/>
          <p:nvPr/>
        </p:nvSpPr>
        <p:spPr>
          <a:xfrm>
            <a:off x="5779008" y="4636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o-518"/>
          <p:cNvSpPr txBox="1"/>
          <p:nvPr/>
        </p:nvSpPr>
        <p:spPr>
          <a:xfrm>
            <a:off x="6400800" y="4562856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Quantidade de dados e extrapolação</a:t>
            </a:r>
            <a:endParaRPr lang="en-US" sz="1700" dirty="0"/>
          </a:p>
        </p:txBody>
      </p:sp>
      <p:sp>
        <p:nvSpPr>
          <p:cNvPr id="31" name="texto-519"/>
          <p:cNvSpPr txBox="1"/>
          <p:nvPr/>
        </p:nvSpPr>
        <p:spPr>
          <a:xfrm>
            <a:off x="10332720" y="4562856"/>
            <a:ext cx="1143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chemeClr val="accent4"/>
                </a:solidFill>
              </a:rPr>
              <a:t>20 min</a:t>
            </a:r>
            <a:endParaRPr lang="en-US" sz="1500" dirty="0"/>
          </a:p>
        </p:txBody>
      </p:sp>
      <p:sp>
        <p:nvSpPr>
          <p:cNvPr id="32" name="cartao-520"/>
          <p:cNvSpPr/>
          <p:nvPr/>
        </p:nvSpPr>
        <p:spPr>
          <a:xfrm>
            <a:off x="5669280" y="5303520"/>
            <a:ext cx="5971032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numero-521"/>
          <p:cNvSpPr/>
          <p:nvPr/>
        </p:nvSpPr>
        <p:spPr>
          <a:xfrm>
            <a:off x="5779008" y="537667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o-522"/>
          <p:cNvSpPr txBox="1"/>
          <p:nvPr/>
        </p:nvSpPr>
        <p:spPr>
          <a:xfrm>
            <a:off x="5779008" y="5376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texto-523"/>
          <p:cNvSpPr txBox="1"/>
          <p:nvPr/>
        </p:nvSpPr>
        <p:spPr>
          <a:xfrm>
            <a:off x="6400800" y="530352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Classificação: quando a acurácia engana</a:t>
            </a:r>
            <a:endParaRPr lang="en-US" sz="1700" dirty="0"/>
          </a:p>
        </p:txBody>
      </p:sp>
      <p:sp>
        <p:nvSpPr>
          <p:cNvPr id="36" name="texto-524"/>
          <p:cNvSpPr txBox="1"/>
          <p:nvPr/>
        </p:nvSpPr>
        <p:spPr>
          <a:xfrm>
            <a:off x="10332720" y="5303520"/>
            <a:ext cx="1143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chemeClr val="accent4"/>
                </a:solidFill>
              </a:rPr>
              <a:t>10 min</a:t>
            </a:r>
            <a:endParaRPr lang="en-US" sz="15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la de Aprendizado de Maquina">
  <a:themeElements>
    <a:clrScheme name="Aula de Aprendizado de Maquina">
      <a:dk1>
        <a:srgbClr val="1B2333"/>
      </a:dk1>
      <a:lt1>
        <a:srgbClr val="FFFFFF"/>
      </a:lt1>
      <a:dk2>
        <a:srgbClr val="0F2440"/>
      </a:dk2>
      <a:lt2>
        <a:srgbClr val="F2F4F7"/>
      </a:lt2>
      <a:accent1>
        <a:srgbClr val="EB6834"/>
      </a:accent1>
      <a:accent2>
        <a:srgbClr val="2A78D6"/>
      </a:accent2>
      <a:accent3>
        <a:srgbClr val="1BAF7A"/>
      </a:accent3>
      <a:accent4>
        <a:srgbClr val="6B7A90"/>
      </a:accent4>
      <a:accent5>
        <a:srgbClr val="F2B33D"/>
      </a:accent5>
      <a:accent6>
        <a:srgbClr val="4A3AA7"/>
      </a:accent6>
      <a:hlink>
        <a:srgbClr val="2A78D6"/>
      </a:hlink>
      <a:folHlink>
        <a:srgbClr val="4A3AA7"/>
      </a:folHlink>
    </a:clrScheme>
    <a:fontScheme name="Aula de Aprendizado de Maquin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2549</Words>
  <Application>Microsoft Macintosh PowerPoint</Application>
  <PresentationFormat>Widescreen</PresentationFormat>
  <Paragraphs>491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Cambria</vt:lpstr>
      <vt:lpstr>Courier New</vt:lpstr>
      <vt:lpstr>Aula de Aprendizado de Maquina</vt:lpstr>
      <vt:lpstr>Introdução ao Aprendizado de Máquina</vt:lpstr>
      <vt:lpstr>Do ajuste de curvas aos modelos generativos</vt:lpstr>
      <vt:lpstr>Onde você já viu aprendizado de máquina?</vt:lpstr>
      <vt:lpstr>Aprender é melhorar com a experiência</vt:lpstr>
      <vt:lpstr>Programação tradicional × aprendizado de máquina</vt:lpstr>
      <vt:lpstr>Modelagem física × aprendizado de máquina</vt:lpstr>
      <vt:lpstr>Uma breve história</vt:lpstr>
      <vt:lpstr>Aprendizado de máquina na física</vt:lpstr>
      <vt:lpstr>Três formas de aprender com dados</vt:lpstr>
      <vt:lpstr>Onde cada aula se encaixa</vt:lpstr>
      <vt:lpstr>Todo método: dados, modelo, perda e otimização</vt:lpstr>
      <vt:lpstr>Dados e modelo</vt:lpstr>
      <vt:lpstr>Perda e otimização</vt:lpstr>
      <vt:lpstr>O objetivo é prever bem dados novos</vt:lpstr>
      <vt:lpstr>Demonstração: queda livre medida com ruído</vt:lpstr>
      <vt:lpstr>Mesmos dados, três modelos</vt:lpstr>
      <vt:lpstr>O que os números mostram</vt:lpstr>
      <vt:lpstr>A curva de complexidade</vt:lpstr>
      <vt:lpstr>Viés e variância</vt:lpstr>
      <vt:lpstr>Treino, validação e teste</vt:lpstr>
      <vt:lpstr>Validação cruzada com k dobras</vt:lpstr>
      <vt:lpstr>Vazamento de dados</vt:lpstr>
      <vt:lpstr>Métricas de regressão</vt:lpstr>
      <vt:lpstr>Métricas de classificação</vt:lpstr>
      <vt:lpstr>Padronização dos atributos</vt:lpstr>
      <vt:lpstr>Etapas de um projeto de aprendizado de máquina</vt:lpstr>
      <vt:lpstr>A interface do scikit-learn</vt:lpstr>
      <vt:lpstr>Cinco ideias para levar</vt:lpstr>
      <vt:lpstr>Trabalho prático: oscilador amortecido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 — Introdução geral</dc:title>
  <dc:subject>PptxGenJS Presentation</dc:subject>
  <dc:creator>Felipe Fanchini</dc:creator>
  <cp:lastModifiedBy>Felipe Fanchini</cp:lastModifiedBy>
  <cp:revision>2</cp:revision>
  <dcterms:created xsi:type="dcterms:W3CDTF">2026-10-08T21:30:20Z</dcterms:created>
  <dcterms:modified xsi:type="dcterms:W3CDTF">2026-10-09T12:15:40Z</dcterms:modified>
</cp:coreProperties>
</file>